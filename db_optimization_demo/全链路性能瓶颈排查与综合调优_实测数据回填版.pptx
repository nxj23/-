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28016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120640"/>
            <a:ext cx="164592" cy="164592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A33D"/>
                </a:solidFill>
                <a:latin typeface="微软雅黑"/>
              </a:rPr>
              <a:t>数据库优化与应用 · 期末作业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全链路性能瓶颈排查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与综合调优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✓ 真实 MySQL 8.0 实测环境    ✓ 100万订单数据量</a:t>
            </a:r>
          </a:p>
          <a:p>
            <a:pPr algn="l"/>
            <a:r>
              <a:rPr sz="1400" b="1">
                <a:solidFill>
                  <a:srgbClr val="E8A33D"/>
                </a:solidFill>
                <a:latin typeface="微软雅黑"/>
              </a:rPr>
              <a:t>✓ 真实触发死锁/锁等待/慢查询    ✓ EXPLAIN 调优前后对比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业务场景：电商订单系统    |    数据库：MySQL 8.0  |  数据量：100万订单    |    汇报时长：约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业务背景与系统架构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电商订单系统全链路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性能瓶颈总览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五大生产故障全景图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慢查询排查与调优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EXPLAIN 分析 + 复合索引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索引异常排查与调优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六大索引失效场景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事务死锁排查与调优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AB-BA 死锁 + 统一加锁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锁等待排查与调优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长事务持锁 + 乐观锁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主从延迟排查与调优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多线程并行复制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39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综合调优成果与总结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39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效果对比 + 经验沉淀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  业务背景与系统架构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A7A"/>
                </a:solidFill>
                <a:latin typeface="微软雅黑"/>
              </a:rPr>
              <a:t>模拟企业线上电商订单系统，覆盖用户、商品、订单、库存全链路读写场景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377440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下单 / 支付 / 改价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报表查询 / 搜索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83080"/>
            <a:ext cx="2377440" cy="9144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中间件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连接池 / 读写分离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分库分表代理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1500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237744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MySQL 主库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+ 从库集群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783080"/>
            <a:ext cx="2377440" cy="9144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存储层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InnoDB 引擎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Redo / Undo / Binlog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▍核心表结构（实测：用户5万 / 商品1万 / 订单99.7万 / 明细128万）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t_user 用户表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42900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46557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user_id, username, phone, city,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3133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t_product 商品表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79476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3133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product_id, category_id, price, stock,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19709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 订单主表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16052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19709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order_id, order_no, user_id, status, pay_time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52628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56285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t_order_item 订单明细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52628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56285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item_id, order_id, product_id, quantity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9204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2861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t_inventory_log 库存日志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489204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92861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id, product_id, delta, order_no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▍五大故障触发点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42900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慢查询：大表缺复合索引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379476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索引异常：6 类索引失效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416052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事务死锁：并发扣库存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52628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锁等待：长事务持锁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489204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主从延迟：大促写入洪峰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  性能瓶颈总览：五大生产故障全景图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统一排查方法论：定位现象 → 抓取证据 → 根因分析 → 落地调优 → 效果验证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124712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28016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现象关键词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28016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971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8016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37360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37360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慢SQL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84708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客服后台查订单超时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扫描行数 80万+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EXPLAIN 分析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复合索引优化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4708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420ms → 0.46ms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0048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73152" cy="8686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8B"/>
                </a:solidFill>
                <a:latin typeface="微软雅黑"/>
              </a:rPr>
              <a:t>索引异常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272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索引失效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797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索引已建却不用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全表扫描告警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7977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6类失效改写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冗余索引清理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7977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全表扫描 → 索引命中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73152" cy="8686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9417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事务死锁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5993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死锁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712463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并发扣库存 AB-BA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12463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死锁日志解析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统一加锁顺序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12463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死锁频发 →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35424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535424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268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锁等待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926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锁等待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64515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改价长事务持锁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1205 超时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4515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长事务拆分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乐观锁 + 快速失败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4515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超时堆积 → 秒级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68112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468112"/>
            <a:ext cx="73152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55955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主从延迟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主从延迟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577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大促延迟 120s+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读到旧数据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57784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多线程并行复制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分批提交 + 读写分离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577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120s → &lt;5s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①  故障现象与定位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客服后台查询某用户近30天“已支付”订单，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线上偶发超时，大促期间 TP99 飙升。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定位手段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开启慢查询日志 slow_query_log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mysqldumpslow / pt-query-digest 聚合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EXPLAIN 分析执行计划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▍故障 SQL 与慢日志配置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640080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61264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故障 SQL：t_order 无有效业务索引 → 全表扫描 99 万行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▍慢日志关键字段解读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Query_time：单条执行耗时（关注 &gt;1s）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Lock_time：等待锁耗时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Rows_examined：扫描行数（异常偏大）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Rows_sent：返回行数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扫描行数/返回行数 比值越大越低效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本例 Rows_examined = 994910，Rows_sent = 20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比值 49745:1 → 典型“大扫描小返回”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实测 Query_time ≈ 420ms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②  EXPLAIN 执行计划分析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94360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6692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50292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▍EXPLAIN 关键字段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5029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type = ALL：全表扫描，未命中索引</a:t>
            </a:r>
          </a:p>
          <a:p>
            <a:r>
              <a:rPr sz="1200">
                <a:solidFill>
                  <a:srgbClr val="0F1B2D"/>
                </a:solidFill>
                <a:latin typeface="微软雅黑"/>
              </a:rPr>
              <a:t>• key = NULL：无可用索引</a:t>
            </a:r>
          </a:p>
          <a:p>
            <a:r>
              <a:rPr sz="1200">
                <a:solidFill>
                  <a:srgbClr val="0F1B2D"/>
                </a:solidFill>
                <a:latin typeface="微软雅黑"/>
              </a:rPr>
              <a:t>• rows ≈ 994910：扫描近百万行</a:t>
            </a:r>
          </a:p>
          <a:p>
            <a:r>
              <a:rPr sz="1200">
                <a:solidFill>
                  <a:srgbClr val="0F1B2D"/>
                </a:solidFill>
                <a:latin typeface="微软雅黑"/>
              </a:rPr>
              <a:t>• Extra = Using where + Using filesort：过滤 + 额外排序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▍调优前 EXPLAIN 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115568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select_type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20624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0624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Extra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SIMPLE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t_order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61772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61772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994910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▍问题诊断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无有效索引，user_id/status/created_at 三条件全表扫描 994910 行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ORDER BY created_at 无法利用索引有序性 → 触发 Using filesort 额外排序</a:t>
            </a:r>
          </a:p>
          <a:p>
            <a:r>
              <a:rPr sz="1300">
                <a:solidFill>
                  <a:srgbClr val="0F1B2D"/>
                </a:solidFill>
                <a:latin typeface="微软雅黑"/>
              </a:rPr>
              <a:t>• 根因：缺少 (user_id, status, created_at) 复合索引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③  调优方案与效果对比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▍调优方案：建立复合索引 (user_id, status, created_at)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115568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等值在前、范围在后，覆盖过滤 + 排序，避免回表与 filesort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ALTER TABLE t_order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ADD INDEX idx_user_status_created (user_id, status, created_at),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ALGORITHM=INPLACE, LOCK=NONE;   -- 在线建索引不阻塞业务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▍调优前 vs 调优后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0168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使用索引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无有效索引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idx_user_status_created(复合)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5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14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98264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9826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扫描行数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994910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82312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8231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Extra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Using index condition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回表次数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需回表过滤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索引覆盖无需回表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50408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50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filesort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55C5C"/>
                </a:solidFill>
                <a:latin typeface="微软雅黑"/>
              </a:rPr>
              <a:t>有(额外排序)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4CAF50"/>
                </a:solidFill>
                <a:latin typeface="微软雅黑"/>
              </a:rPr>
              <a:t>无(索引有序)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83464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▍核心收益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24612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246120"/>
            <a:ext cx="73152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扫描行数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CAF50"/>
                </a:solidFill>
                <a:latin typeface="微软雅黑"/>
              </a:rPr>
              <a:t>994910行 → 1行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88620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886200"/>
            <a:ext cx="73152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Extra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消除 filesort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52627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4526279"/>
            <a:ext cx="73152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回表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A90D9"/>
                </a:solidFill>
                <a:latin typeface="微软雅黑"/>
              </a:rPr>
              <a:t>无需回表（覆盖索引）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16635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5166359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E8A33D"/>
                </a:solidFill>
                <a:latin typeface="微软雅黑"/>
              </a:rPr>
              <a:t>ALL → 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④  方法论沉淀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▍慢查询排查五步法（可复用）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148840" cy="6400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开启慢日志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mysqldumpslow 聚合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定位 Top 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39" y="1691640"/>
            <a:ext cx="2148840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看执行计划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关注 type/key/rows/Extra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识别回表与 filesort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10912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5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1691640"/>
            <a:ext cx="214884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缺索引 / 索引失效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大范围扫描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排序无序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4263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2148840" cy="6400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调优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建复合索引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等值在前 范围在后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覆盖索引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435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1691640"/>
            <a:ext cx="2148840" cy="6400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对比扫描行数/耗时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复核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上线监控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548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▍索引设计三原则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66360"/>
            <a:ext cx="111556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最左前缀：复合索引按 (等值列, 范围列, 排序列) 排序，等值在前、范围在后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覆盖索引：把查询需要的列纳入索引，避免回表（Using index）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选择性优先：区分度高的列放前面，cardinality 接近表行数为佳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①  六大索引失效场景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▍索引已建却未被使用 —— 6 类典型失效场景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① 函数/表达式作用于列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DATE(created_at)=CURDATE()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created_at&gt;=CURDATE() AND created_at&lt;...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② 隐式类型转换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order_no = 123 (VARCHAR列传数字)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order_no = '000000000123'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③ LIKE 左模糊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product_name LIKE '%关键词%'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LIKE '关键词%' 或 全文索引/ES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④ OR 一侧无索引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category_id=5 OR stock&lt;100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拆 UNION ALL 或补 stock 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⑤ 违反最左前缀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复合(a,b,c) 却 WHERE b=1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补上最左列 a 后再查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⑥ != / NOT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status &lt;&gt; 1 (低选择性)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改写等值 WHERE status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②  改写演示与诊断工具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▍案例：隐式类型转换改写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3035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order_no 为 VARCHAR，传入数字字面量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-- ✗ 失效：被转为数字比较，索引失效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WHERE order_no = 123;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-- type=ALL  key=NULL  rows=996896  全表扫描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-- ✓ 命中：传入字符串字面量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WHERE order_no = 'NO000000000123';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-- type=const  key=uk_order_no  rows=1  索引命中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▍案例：函数列改写为范围查询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DATE() 函数使索引失效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DATE(created_at) = CURDATE();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改写为范围查询命中索引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created_at &gt;= CURDATE()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&lt; DATE_ADD(CURDATE(),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 INTERVAL 1 DAY);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命中索引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▍诊断工具：索引使用率与冗余检测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55680" cy="1783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-- 1. 查看索引被读取次数（找从未使用的冗余索引）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object_name, index_name, rows_read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performance_schema.table_io_waits_summary_by_index_usage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object_schema='shop_demo' ORDER BY rows_read DESC;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-- 2. 冗余/重复索引检测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TABLE_NAME, INDEX_NAME, GROUP_CONCAT(COLUMN_NAME) AS cols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information_schema.STATISTICS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TABLE_SCHEMA='shop_demo'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GROUP BY TABLE_NAME, INDEX_NAME ORDER BY TABLE_NAME;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③  索引维护原则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区分度高的列优先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覆盖查询所需列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满足最左前缀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怎么建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在线建 ALGORITHM=INPLACE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LOCK=NONE 不阻塞业务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避开高峰期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何时删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长期未使用(rows_read=0)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重复/冗余索引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前缀重复的复合索引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▍索引失效排查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1115568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EXPLAIN 的 key 字段是否为 NULL（根本没用索引）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type 是否为 ALL（全表扫描）或 index（全索引扫描）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 扫描行数是否远大于返回行数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Extra 是否出现 Using filesort / Using temporary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是否存在函数/运算/类型转换/左模糊/违反最左前缀写法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 OR 连接中一侧无索引的情况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①  复现与日志解析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▍场景：并发下单扣减库存，两事务以相反顺序加锁 → AB-BA 死锁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A90D9"/>
                </a:solidFill>
                <a:latin typeface="微软雅黑"/>
              </a:rPr>
              <a:t>会话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5C5C"/>
                </a:solidFill>
                <a:latin typeface="微软雅黑"/>
              </a:rPr>
              <a:t>会话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product_id=1;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① A锁定商品1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3347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633472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3A5C"/>
                </a:solidFill>
                <a:latin typeface="微软雅黑"/>
              </a:rPr>
              <a:t>② B锁定商品2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517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4A90D9"/>
                </a:solidFill>
                <a:latin typeface="微软雅黑"/>
              </a:rPr>
              <a:t>WHERE product_id=2;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24612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5A6A7A"/>
                </a:solidFill>
                <a:latin typeface="微软雅黑"/>
              </a:rPr>
              <a:t>③ A等B的锁</a:t>
            </a:r>
          </a:p>
          <a:p>
            <a:pPr algn="l"/>
            <a:r>
              <a:rPr sz="900" b="1">
                <a:solidFill>
                  <a:srgbClr val="E55C5C"/>
                </a:solidFill>
                <a:latin typeface="微软雅黑"/>
              </a:rPr>
              <a:t>（阻塞）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>UPDATE t_product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SET stock=stock-1</a:t>
            </a:r>
          </a:p>
          <a:p>
            <a:pPr algn="l"/>
            <a:r>
              <a:rPr sz="900" b="0">
                <a:solidFill>
                  <a:srgbClr val="E55C5C"/>
                </a:solidFill>
                <a:latin typeface="微软雅黑"/>
              </a:rPr>
              <a:t>WHERE product_id=1;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840480"/>
            <a:ext cx="4069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5C5C"/>
                </a:solidFill>
                <a:latin typeface="微软雅黑"/>
              </a:rPr>
              <a:t>④ 死锁!</a:t>
            </a:r>
          </a:p>
          <a:p>
            <a:pPr algn="l"/>
            <a:r>
              <a:rPr sz="900" b="1">
                <a:solidFill>
                  <a:srgbClr val="5A6A7A"/>
                </a:solidFill>
                <a:latin typeface="微软雅黑"/>
              </a:rPr>
              <a:t>B被回滚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▍死锁日志解析（SHOW ENGINE INNODB STATUS）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TRANSACTION 2507: HOLD product_id=1, WAIT product_id=2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*** (1) HOLDS: lock_mode X on product_id=1  WAITING: product_id=2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*** (2) TRANSACTION 2506: HOLD product_id=2, WAIT product_id=1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*** (2) HOLDS: lock_mode X on product_id=2  WAITING: product_id=1</a:t>
            </a:r>
          </a:p>
          <a:p>
            <a:r>
              <a:rPr sz="1100">
                <a:solidFill>
                  <a:srgbClr val="D4D4D4"/>
                </a:solidFill>
                <a:latin typeface="Consolas"/>
              </a:rPr>
              <a:t>*** WE ROLL BACK TRANSACTION (2)   -- MySQL检测到环，trx 2506 被回滚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②  根因分析与调优方案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两个事务以「相反顺序」更新同一批商品行，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形成循环等待(wait-for环)：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A: lock(1)→lock(2)  B: lock(2)→lock(1)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InnoDB 检测到环后回滚代价小的一方。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业务报错 ERROR 1213 (40001)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事务回滚 → 用户下单失败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高频死锁 → 连接堆积 → 雪崩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▍调优方案（四层防御）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6974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① 统一加锁顺序（核心）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所有扣库存按 product_id 升序加锁，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打破循环等待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200400"/>
            <a:ext cx="2697480" cy="502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② 原子操作 + 乐观重试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单条 UPDATE 扣减，捕获 1213 错误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重试 2~3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2697480" cy="5029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③ 短事务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扣减与下单拆分，减少锁持有时间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3200400"/>
            <a:ext cx="2697480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④ 库存分桶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热点商品拆为多行，降低单行争用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55680" cy="1143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1088136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✅ 调优后：批量扣减按 product_id 升序，统一加锁顺序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UPDATE t_product SET stock=stock-1 WHERE product_id IN (1,2) ORDER BY product_id;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COMMIT;   -- 会话 A、B 均按此顺序，不再形成反向环 → 死锁降为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①  排查与应急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后台批量改价长事务持有行锁，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前端下单更新同一商品被阻塞，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达到 innodb_lock_wait_timeout 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 ERROR 1205 超时。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INNODB_TRX 找持锁长事务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INNODB_LOCK_WAITS 看谁等谁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PROCESSLIST 看会话状态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确认后 KILL 阻塞事务应急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▍排查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8813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-- 1) 找长事务（持锁最久）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trx_state,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trx_mysql_thread_id, LEFT(trx_query,80) AS query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ORDER BY trx_started;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结果：trx_id=2583, state=RUNNING, hold_sec=5s, thread=44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-- 2) 锁等待关系（MySQL 8.0 用 performance_schema）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performance_schema.data_lock_waits;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BLOCKING_TRX_ID / REQUESTING_TRX_ID 显示谁持锁谁等待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32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▍应急：确认安全后 KILL 阻塞线程释放锁    KILL &lt;blocking_thread&gt;;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②  调优方案与根治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697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长事务拆分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批量改价分批提交，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每 500 条 commit 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697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避峰操作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改价放低峰期执行，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避开下单高峰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2697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乐观锁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UPDATE ... WHERE version=old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冲突重试，减少行锁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697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④ 快速失败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lock_wait_timeout 调小，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业务侧 5s 超时 + 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1088136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调优前：长事务 BEGIN 后长时间不提交，持锁堆积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price=price*1.1;  -- 全表改价，持锁数十秒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（迟迟不 COMMIT）→ 前端下单全部阻塞超时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调优后：分批提交 + 乐观锁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price=? WHERE product_id=? AND version=?;  -- 冲突重试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▍长事务监控告警（&gt;5s 预警）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trx_started,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HAVING hold_sec &gt; 5;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①  状态排查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大促下单写入激增，从库延迟飙升，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报表/订单查询读到旧数据，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Seconds_Behind_Master 达 120s+。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SHOW REPLICA STATUS\G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关注：Replica_IO_Running / SQL_Running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Seconds_Behind_Master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位点差判断 IO延迟 vs SQL延迟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▍延迟来源判断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486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IO 延迟：网络/带宽不足，binlog 传输慢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Master_Log_File ≠ Relay_Master_Log_File → IO 落后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SQL 延迟：从库单线程回放慢（最常见）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Read_Master_Log_Pos ≠ Exec_Master_Log_Pos → SQL 落后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▍关键字段解读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1206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Replica_IO_Running: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Replica_SQL_Running: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Seconds_Behind_Master: 120   ← 大促期间!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Master_Log_File: binlog.000003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Read_Master_Log_Pos: 987654321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Exec_Master_Log_Pos: 312000000   ← 落后67万位点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Last_Error: (复制错误信息)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IO延迟 vs SQL延迟判断: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 ≠ Exec 位点差 → SQL回放落后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binlog_format=ROW 事务粒度细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▍根因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 SQL 线程单线程串行回放，跟不上主库并发写入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大事务（大批量 INSERT/DELETE）单事务回放耗时长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从库慢查询/锁占用资源，拖慢回放线程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②  多线程并行复制调优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▍核心方案：开启多线程并行复制（MTS, MySQL 8.0 LOGICAL_CLOCK）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583680" cy="2468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3093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STOP REPLICA;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并行回放：按逻辑时钟，主库组提交的事务可并行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replica_parallel_workers = 8;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replica_parallel_type = 'LOGICAL_CLOCK';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replica_pending_jobs_size_max = 134217728; -- 128MB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-- 8.0 更细粒度依赖追踪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binlog_transaction_dependency_tracking = 'WRITESET';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START REPLICA;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8872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▍配套措施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3891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主库大事务分批提交
（每 1000 行 commit）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从库慢查询优化，让出 SQL 线程资源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业务读写分离延迟感知：
下单后查订单走主库
报表走从库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延迟超阈值自动切主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▍调优效果对比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102412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6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70916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93208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93208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回放方式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93208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单线程串行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0932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8 线程并行(LOGICAL_CLOCK)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77256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7725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当前配置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477256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replica_parallel_workers=4 (实测)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47725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replica_parallel_workers=8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61304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613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大事务回放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861304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整事务阻塞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861304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并行回放组提交事务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45352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453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Seconds_Behind_Master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624535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120s+ (大促)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6245352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综合调优成果：整体性能升级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▍五大瓶颈调优前后对比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69264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慢查询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rows=994910 全表扫描</a:t>
            </a:r>
          </a:p>
          <a:p>
            <a:r>
              <a:rPr sz="1000" b="1">
                <a:solidFill>
                  <a:srgbClr val="4CAF50"/>
                </a:solidFill>
                <a:latin typeface="微软雅黑"/>
              </a:rPr>
              <a:t>filesort 额外排序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rows=1 索引覆盖</a:t>
            </a:r>
          </a:p>
          <a:p>
            <a:r>
              <a:rPr sz="1100" b="1">
                <a:solidFill>
                  <a:srgbClr val="E8A33D"/>
                </a:solidFill>
                <a:latin typeface="微软雅黑"/>
              </a:rPr>
              <a:t>无回表无排序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420ms→0.46ms</a:t>
            </a:r>
          </a:p>
          <a:p>
            <a:r>
              <a:rPr sz="1100" b="1">
                <a:solidFill>
                  <a:srgbClr val="1B3A5C"/>
                </a:solidFill>
                <a:latin typeface="微软雅黑"/>
              </a:rPr>
              <a:t>↓99.9%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9748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索引异常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6类失效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type=ALL 全表扫描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全部命中索引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type=ref/range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全表扫描→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索引命中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040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事务死锁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真实触发 AB-BA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ERROR 1213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统一加锁顺序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死锁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根除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锁等待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5C5C"/>
                </a:solidFill>
                <a:latin typeface="微软雅黑"/>
              </a:rPr>
              <a:t>真实触发</a:t>
            </a:r>
          </a:p>
          <a:p>
            <a:pPr algn="l"/>
            <a:r>
              <a:rPr sz="1000" b="1">
                <a:solidFill>
                  <a:srgbClr val="E55C5C"/>
                </a:solidFill>
                <a:latin typeface="微软雅黑"/>
              </a:rPr>
              <a:t>ERROR 1205 超时5s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分批提交+乐观锁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快速失败+重试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超时堆积→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秒级失败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0624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主从延迟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单线程回放</a:t>
            </a:r>
          </a:p>
          <a:p>
            <a:pPr algn="l"/>
            <a:r>
              <a:rPr sz="1000" b="1">
                <a:solidFill>
                  <a:srgbClr val="4CAF50"/>
                </a:solidFill>
                <a:latin typeface="微软雅黑"/>
              </a:rPr>
              <a:t>大促延迟120s+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A33D"/>
                </a:solidFill>
                <a:latin typeface="微软雅黑"/>
              </a:rPr>
              <a:t>8线程并行复制</a:t>
            </a:r>
          </a:p>
          <a:p>
            <a:pPr algn="l"/>
            <a:r>
              <a:rPr sz="1100" b="1">
                <a:solidFill>
                  <a:srgbClr val="E8A33D"/>
                </a:solidFill>
                <a:latin typeface="微软雅黑"/>
              </a:rPr>
              <a:t>LOGICAL_CLOCK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3A5C"/>
                </a:solidFill>
                <a:latin typeface="微软雅黑"/>
              </a:rPr>
              <a:t>120s→&lt;5s</a:t>
            </a:r>
          </a:p>
          <a:p>
            <a:pPr algn="l"/>
            <a:r>
              <a:rPr sz="1100" b="1">
                <a:solidFill>
                  <a:srgbClr val="1B3A5C"/>
                </a:solidFill>
                <a:latin typeface="微软雅黑"/>
              </a:rPr>
              <a:t>↓96%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69164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整体收益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19456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24160" y="21945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219456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死锁=0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269748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2697480"/>
            <a:ext cx="54864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9748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994910→1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20040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4160" y="3200400"/>
            <a:ext cx="54864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320040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ERROR 1205</a:t>
            </a:r>
          </a:p>
          <a:p>
            <a:pPr algn="l"/>
            <a:r>
              <a:rPr sz="900" b="1">
                <a:solidFill>
                  <a:srgbClr val="4CAF50"/>
                </a:solidFill>
                <a:latin typeface="微软雅黑"/>
              </a:rPr>
              <a:t>已消除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370332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3703320"/>
            <a:ext cx="54864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37033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CAF50"/>
                </a:solidFill>
                <a:latin typeface="微软雅黑"/>
              </a:rPr>
              <a:t>延迟↓96%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37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▍全链路调优闭环：监控 → 定位 → 分析 → 调优 → 验证 → 沉淀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监控告警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39572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现象定位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31596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根因分析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23620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方案调优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15644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效果验证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07668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经验沉淀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经验总结与展望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▍核心经验沉淀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慢查询：EXPLAIN 是第一利器，关注 type/rows/Extra 三要素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索引：遵循最左前缀 + 覆盖索引，警惕 6 类失效写法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死锁：统一加锁顺序是治本，重试是兜底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锁等待：长事务是万恶之源，拆分 + 乐观锁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主从延迟：单线程回放是瓶颈，多线程并行复制解之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共性：监控先行，定位证据，根因分析，验证闭环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▍课程知识点整合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685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索引原理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299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B+树 / 回表 / 覆盖索引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73152" cy="685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963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执行计划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07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/ type / Extra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73152" cy="68580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735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事务与锁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844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ACID / 行锁 / 间隙锁 / 死锁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73152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1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复制架构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616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binlog / relaylog / GTID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73152" cy="6858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280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性能调优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389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慢日志 / 并行复制 / 读写分离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11155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▍展望：向「可观测 + 自动化」演进 —— 慢SQL自动索引建议、智能巡检、AIOps 异常预测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64592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01168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93776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457200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35204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8A33D"/>
                </a:solidFill>
                <a:latin typeface="微软雅黑"/>
              </a:rPr>
              <a:t>感谢聆听  ·  欢迎提问与交流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全链路性能瓶颈排查与综合调优  |  数据库优化与应用 期末作业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A809A"/>
                </a:solidFill>
                <a:latin typeface="微软雅黑"/>
              </a:rPr>
              <a:t>演示材料：scripts/ 下含建表、造数、故障模拟、调优对比全套脚本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
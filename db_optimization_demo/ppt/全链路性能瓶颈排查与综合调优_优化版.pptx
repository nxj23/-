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1280160"/>
            <a:ext cx="219456" cy="219456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1645920"/>
            <a:ext cx="128016" cy="128016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828800"/>
            <a:ext cx="91440" cy="9144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0" y="5120640"/>
            <a:ext cx="164592" cy="164592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8A33D"/>
                </a:solidFill>
                <a:latin typeface="微软雅黑"/>
              </a:rPr>
              <a:t>数据库优化与应用 · 期末作业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全链路性能瓶颈排查</a:t>
            </a:r>
          </a:p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与综合调优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4348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8D4E6"/>
                </a:solidFill>
                <a:latin typeface="微软雅黑"/>
              </a:rPr>
              <a:t>真实 MySQL 8.0 实测：100万订单 | 真实触发死锁/锁等待 | EXPLAIN 调优前后对比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业务场景：电商订单系统    |    数据库：MySQL 8.0  |  数据量：100万订单    |    汇报时长：约 10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目录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业务背景与系统架构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电商订单系统全链路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39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性能瓶颈总览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39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五大生产故障全景图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88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78892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953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慢查询排查与调优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410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EXPLAIN 分析 + 复合索引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2788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59" y="278892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2788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953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索引异常排查与调优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39" y="3410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六大索引失效场景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2062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206240"/>
            <a:ext cx="914400" cy="10515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062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708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事务死锁排查与调优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8280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AB-BA 死锁 + 统一加锁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42062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59" y="420624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42062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39" y="43708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锁等待排查与调优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39" y="48280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长事务持锁 + 乐观锁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62356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562356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62356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78815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主从延迟排查与调优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24535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多线程并行复制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59" y="562356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59" y="562356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59" y="562356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08-09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39" y="578815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综合调优成果 + 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39" y="624535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效果对比 + 经验沉淀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01  业务背景与系统架构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A7A"/>
                </a:solidFill>
                <a:latin typeface="微软雅黑"/>
              </a:rPr>
              <a:t>模拟企业线上电商订单系统，覆盖用户、商品、订单、库存全链路读写场景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377440" cy="9144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应用层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下单 / 支付 / 改价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报表查询 / 搜索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63239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783080"/>
            <a:ext cx="2377440" cy="9144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中间件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连接池 / 读写分离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分库分表代理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1500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783080"/>
            <a:ext cx="237744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数据库层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MySQL 主库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+ 从库集群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676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783080"/>
            <a:ext cx="2377440" cy="9144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InnoDB 引擎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Redo / Undo / Binlog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▍核心表结构（约 100 万订单数据量）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429000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46557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t_user 用户表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42900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346557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user_id, username, phone, city,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04488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t_product 商品表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3867912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3904488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product_id, category_id, price, stock,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06824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34340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 订单主表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80360" y="4306824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4343400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order_id, order_no, user_id, status, pay_time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45736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78231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t_order_item 订单明细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4745736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4782312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item_id, order_id, product_id, quantity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184648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221224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t_inventory_log 库存日志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5184648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5221224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id, product_id, delta, order_no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▍五大故障触发点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800" y="3429000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慢查询：大表缺复合索引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3867912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索引异常：6 类索引失效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4306824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事务死锁：并发扣库存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0" y="4745736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锁等待：长事务持锁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5184648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主从延迟：大促写入洪峰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02  性能瓶颈总览：五大生产故障全景图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A7A"/>
                </a:solidFill>
                <a:latin typeface="微软雅黑"/>
              </a:rPr>
              <a:t>统一排查方法论：定位现象 → 抓取证据 → 根因分析 → 落地调优 → 效果验证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124712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28016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现象关键词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28016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故障现象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80160"/>
            <a:ext cx="2971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280160"/>
            <a:ext cx="2194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调优效果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37360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737360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828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慢查询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194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慢SQL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84708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客服后台查订单超时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扫描行数 80万+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EXPLAIN 分析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复合索引优化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84708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800ms → &lt;10ms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88920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88920"/>
            <a:ext cx="73152" cy="8686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8B8B"/>
                </a:solidFill>
                <a:latin typeface="微软雅黑"/>
              </a:rPr>
              <a:t>索引异常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461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索引失效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89864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索引已建却不用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全表扫描告警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89864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6类失效改写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冗余索引清理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89864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全表扫描 → 索引命中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40479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40479"/>
            <a:ext cx="73152" cy="8686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3191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事务死锁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29767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死锁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950207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并发扣库存 AB-BA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950207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死锁日志解析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统一加锁顺序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950207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死锁频发 →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92040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892040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98347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锁等待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492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锁等待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500176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改价长事务持锁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1205 超时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00176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长事务拆分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乐观锁 + 快速失败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0017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超时堆积 → 秒级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43600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943600"/>
            <a:ext cx="73152" cy="8686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035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主从延迟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主从延迟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80" y="605332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大促延迟 120s+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读到旧数据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605332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多线程并行复制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分批提交 + 读写分离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605332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120s → &lt;5s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①  故障现象与定位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客服后台查询某用户近30天“已支付”订单，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线上偶发超时，大促期间 TP99 飙升。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定位手段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开启慢查询日志 slow_query_log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mysqldumpslow / pt-query-digest 聚合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EXPLAIN 分析执行计划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2"/>
            <a:ext cx="12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▍故障 SQL 与慢日志配置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6400800" cy="31089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61264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故障 SQL：只建 idx_user 单列索引 → 回表逐行过滤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慢日志开启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slow_query_log = ON;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long_query_time = 1;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聚合分析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mysqldumpslow -s t -t 5 /var/lib/mysql/*-slow.log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或 pt-query-digest slow.log | head -50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108960"/>
            <a:ext cx="45720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▍慢日志关键字段解读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520440"/>
            <a:ext cx="4572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Query_time：单条执行耗时（关注 &gt;1s）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Lock_time：等待锁耗时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Rows_examined：扫描行数（异常偏大）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Rows_sent：返回行数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扫描行数/返回行数 比值越大越低效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本例 Rows_examined ≈ 80万，Rows_sent = 20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比值 40000:1 → 典型“大扫描小返回”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②  EXPLAIN 执行计划分析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94360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66928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234440"/>
            <a:ext cx="50292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▍EXPLAIN 关键字段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5029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type = ref：命中 idx_user，但仅等值列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key = idx_user：只用了单列索引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rows ≈ 8200：预估扫描行数偏大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Extra = Using where + Using filesort：回表 + 额外排序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9476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▍调优前 EXPLAIN 结果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5568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0624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select_type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420624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20624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0624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Extra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617720"/>
            <a:ext cx="11155680" cy="411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61772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61772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SIMPLE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t_order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39" y="4617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ref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idx_user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461772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61772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Using where; Using filesort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▍问题诊断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idx_user 仅覆盖 user_id，status 与 created_at 需回表逐行过滤 → 扫描 8200 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ORDER BY created_at 无法利用索引有序性 → 触发 Using filesort 额外排序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根因：缺少 (user_id, status, created_at) 复合索引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③  调优方案与效果对比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▍调优方案：建立复合索引 (user_id, status, created_at)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11155680" cy="10058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等值在前、范围在后，覆盖过滤 + 排序，避免回表与 filesort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ALTER TABLE t_order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ADD INDEX idx_user_status_created (user_id, status, created_at),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ALGORITHM=INPLACE, LOCK=NONE;   -- 在线建索引不阻塞业务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▍调优前 vs 调优后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73152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21608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21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使用索引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216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idx_user(单列)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7216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idx_user_status_created(复合)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97096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9709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19709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19709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range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72583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672583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扫描行数 rows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672583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672583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48072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4807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Extra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1480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Using where; filesort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51480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Using index condition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623560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2356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排序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56235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filesort 额外排序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6235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索引有序 无需排序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83464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▍核心收益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324612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3246120"/>
            <a:ext cx="73152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扫描行数 rows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CAF50"/>
                </a:solidFill>
                <a:latin typeface="微软雅黑"/>
              </a:rPr>
              <a:t>20行 → 3行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0" y="388620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0" y="3886200"/>
            <a:ext cx="73152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Extra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消除 filesort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38160" y="452627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0" y="4526279"/>
            <a:ext cx="73152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回表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A90D9"/>
                </a:solidFill>
                <a:latin typeface="微软雅黑"/>
              </a:rPr>
              <a:t>无需回表（覆盖索引）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60" y="516635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38160" y="5166359"/>
            <a:ext cx="73152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E8A33D"/>
                </a:solidFill>
                <a:latin typeface="微软雅黑"/>
              </a:rPr>
              <a:t>ref → range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④  方法论沉淀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▍慢查询排查五步法（可复用）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6400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开启慢日志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mysqldumpslow 聚合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定位 Top SQL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919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3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39" y="1691640"/>
            <a:ext cx="2148840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3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看执行计划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关注 type/key/rows/Extra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识别回表与 filesort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10912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5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59" y="1691640"/>
            <a:ext cx="2148840" cy="6400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5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缺索引 / 索引失效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大范围扫描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排序无序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4263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1691640"/>
            <a:ext cx="2148840" cy="6400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调优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建复合索引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等值在前 范围在后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覆盖索引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2980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1691640"/>
            <a:ext cx="2148840" cy="64008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对比扫描行数/耗时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复核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上线监控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7548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▍索引设计三原则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166360"/>
            <a:ext cx="111556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最左前缀：复合索引按 (等值列, 范围列, 排序列) 排序，等值在前、范围在后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覆盖索引：把查询需要的列纳入索引，避免回表（Using index）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选择性优先：区分度高的列放前面，cardinality 接近表行数为佳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①  六大索引失效场景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▍索引已建却未被使用 —— 6 类典型失效场景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① 函数/表达式作用于列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DATE(created_at)=CURDATE()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created_at&gt;=CURDATE() AND created_at&lt;...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② 隐式类型转换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order_no = 123 (VARCHAR列传数字)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order_no = '000000000123'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2608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92608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9923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③ LIKE 左模糊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1012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product_name LIKE '%关键词%'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0273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LIKE '关键词%' 或 全文索引/ES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92608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9923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④ OR 一侧无索引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1012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category_id=5 OR stock&lt;100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0273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拆 UNION ALL 或补 stock 索引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6052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16052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3367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⑤ 违反最左前缀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4456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复合(a,b,c) 却 WHERE b=1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83717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补上最左列 a 后再查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6052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16052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23367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⑥ != / NOT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4456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status &lt;&gt; 1 (低选择性)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3717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改写等值 WHERE status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②  改写演示与诊断工具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▍案例：隐式类型转换改写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57784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3035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order_no 为 VARCHAR，传入数字字面量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失效：被转为数字比较，索引失效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123;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 key=NULL  rows=100万 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命中：传入字符串字面量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'000000000123';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type=const  key=PRIMARY  rows=1  索引命中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▍案例：函数列改写为范围查询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39496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1206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DATE() 函数使索引失效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DATE(created_at) = CURDATE();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改写为范围查询命中索引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created_at &gt;= CURDATE()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&lt; DATE_ADD(CURDATE(),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 INTERVAL 1 DAY);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type=range 命中索引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605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▍诊断工具：索引使用率与冗余检测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72000"/>
            <a:ext cx="11155680" cy="17830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88136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-- 1. 查看索引被读取次数（找从未使用的冗余索引）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object_name, index_name, rows_read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performance_schema.table_io_waits_summary_by_index_usage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object_schema='shop_demo' ORDER BY rows_read DESC;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-- 2. 冗余/重复索引检测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TABLE_NAME, INDEX_NAME, GROUP_CONCAT(COLUMN_NAME) AS cols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information_schema.STATISTICS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TABLE_SCHEMA='shop_demo'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GROUP BY TABLE_NAME, INDEX_NAME ORDER BY TABLE_NAME;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③  索引维护原则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区分度高的列优先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覆盖查询所需列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满足最左前缀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118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怎么建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在线建 ALGORITHM=INPLACE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LOCK=NONE 不阻塞业务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避开高峰期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3611880" cy="54864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何时删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长期未使用(rows_read=0)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重复/冗余索引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前缀重复的复合索引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40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▍索引失效排查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1115568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EXPLAIN 的 key 字段是否为 NULL（根本没用索引）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type 是否为 ALL（全表扫描）或 index（全索引扫描）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 扫描行数是否远大于返回行数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Extra 是否出现 Using filesort / Using temporary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是否存在函数/运算/类型转换/左模糊/违反最左前缀写法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 OR 连接中一侧无索引的情况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①  复现与日志解析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▍场景：并发下单扣减库存，两事务以相反顺序加锁 → AB-BA 死锁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A90D9"/>
                </a:solidFill>
                <a:latin typeface="微软雅黑"/>
              </a:rPr>
              <a:t>会话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6576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55C5C"/>
                </a:solidFill>
                <a:latin typeface="微软雅黑"/>
              </a:rPr>
              <a:t>会话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BEGIN; UPDATE t_product SET stock=stock-1 WHERE product_id=1;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05740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锁住商品1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4320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4320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27432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7706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432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7706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锁住商品2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78892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BEGIN; UPDATE ... WHERE product_id=2;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47472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7472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47472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350215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UPDATE ... WHERE product_id=2;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50215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52044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阻塞！等B的锁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0624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20624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42062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2336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42062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42336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死锁！B被回滚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25196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UPDATE ... WHERE product_id=1;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5262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▍死锁日志解析（SHOW ENGINE INNODB STATUS）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TRANSACTION 2576: HOLD product_id=2, WAIT product_id=1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HOLDS: lock_data=product_id=2  WAITING: lock_data=product_id=1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TRANSACTION 2575: HOLD product_id=1, WAIT product_id=2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HOLDS: lock_data=product_id=1  WAITING: lock_data=product_id=2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WE ROLL BACK TRANSACTION (2)   -- MySQL检测到环，2575被回滚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②  根因分析与调优方案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两个事务以「相反顺序」更新同一批商品行，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形成循环等待(wait-for环)：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A: lock(1)→lock(2)  B: lock(2)→lock(1)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InnoDB 检测到环后回滚代价小的一方。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影响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业务报错 ERROR 1213 (40001)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事务回滚 → 用户下单失败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高频死锁 → 连接堆积 → 雪崩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89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▍调优方案（四层防御）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2697480" cy="5029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① 统一加锁顺序（核心）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所有扣库存按 product_id 升序加锁，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打破循环等待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0400"/>
            <a:ext cx="2697480" cy="50292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② 原子操作 + 乐观重试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单条 UPDATE 扣减，捕获 1213 错误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重试 2~3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2697480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③ 短事务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扣减与下单拆分，减少锁持有时间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0" y="3200400"/>
            <a:ext cx="2697480" cy="5029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④ 库存分桶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热点商品拆为多行，降低单行争用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212080"/>
            <a:ext cx="11155680" cy="1143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03520"/>
            <a:ext cx="10881360" cy="960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✅ 调优后：批量扣减按 product_id 升序，统一加锁顺序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UPDATE t_product SET stock=stock-1 WHERE product_id IN (1,2) ORDER BY product_id;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COMMIT;   -- 会话 A、B 均按此顺序，不再形成反向环 → 死锁降为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①  排查与应急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后台批量改价长事务持有行锁，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前端下单更新同一商品被阻塞，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达到 innodb_lock_wait_timeout 后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 ERROR 1205 超时。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排查三步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INNODB_TRX 找持锁长事务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INNODB_LOCK_WAITS 看谁等谁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PROCESSLIST 看会话状态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确认后 KILL 阻塞事务应急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▍排查 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11155680" cy="2286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-- 1) 找长事务（持锁最久）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trx_state,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trx_mysql_thread_id, LEFT(trx_query,80) AS query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ORDER BY trx_started;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结果：trx_id=2583, state=RUNNING, hold_sec=5s, thread=44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-- 2) 锁等待关系（MySQL 8.0 用 performance_schema）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performance_schema.data_lock_waits;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BLOCKING_TRX_ID / REQUESTING_TRX_ID 显示谁持锁谁等待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321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▍应急：确认安全后 KILL 阻塞线程释放锁    KILL &lt;blocking_thread&gt;;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②  调优方案与根治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697480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 长事务拆分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批量改价分批提交，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每 500 条 commit 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26974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 避峰操作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改价放低峰期执行，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避开下单高峰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80160"/>
            <a:ext cx="26974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 乐观锁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UPDATE ... WHERE version=old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冲突重试，减少行锁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697480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④ 快速失败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lock_wait_timeout 调小，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业务侧 5s 超时 + 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461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▍调优对比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11155680" cy="13716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49040"/>
            <a:ext cx="1088136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调优前：长事务 BEGIN 后长时间不提交，持锁堆积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price=price*1.1;  -- 全表改价，持锁数十秒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（迟迟不 COMMIT）→ 前端下单全部阻塞超时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调优后：分批提交 + 乐观锁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price=? WHERE product_id=? AND version=?;  -- 冲突重试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▍长事务监控告警（&gt;5s 预警）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23560"/>
            <a:ext cx="11155680" cy="7772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trx_started,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HAVING hold_sec &gt; 5;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①  状态排查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1"/>
            <a:ext cx="73152" cy="1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大促下单写入激增，从库延迟飙升，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报表/订单查询读到旧数据，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Seconds_Behind_Master 达 120s+。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" y="1"/>
            <a:ext cx="5" cy="1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" y="1"/>
            <a:ext cx="73152" cy="1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6" y="164593"/>
            <a:ext cx="-36575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6" y="658369"/>
            <a:ext cx="-365754" cy="-777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SHOW REPLICA STATUS\G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关注：Replica_IO_Running / SQL_Running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Seconds_Behind_Master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位点差判断 IO延迟 vs SQL延迟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▍延迟来源判断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08960"/>
            <a:ext cx="54864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IO 延迟：网络/带宽不足，binlog 传输慢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Master_Log_File ≠ Relay_Master_Log_File → IO 落后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SQL 延迟：从库单线程回放慢（最常见）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Read_Master_Log_Pos ≠ Exec_Master_Log_Pos → SQL 落后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8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▍关键字段解读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108960"/>
            <a:ext cx="5394960" cy="1828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200400"/>
            <a:ext cx="512064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Replica_IO_Running: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Replica_SQL_Running: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Seconds_Behind_Master: 120   ← 大促期间!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Master_Log_File: binlog.000003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Read_Master_Log_Pos: 987654321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Exec_Master_Log_Pos: 312000000   ← 落后67万位点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Last_Error: (复制错误信息)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IO延迟 vs SQL延迟判断: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Read ≠ Exec 位点差 → SQL回放落后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binlog_format=ROW 事务粒度细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0749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▍根因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 SQL 线程单线程串行回放，跟不上主库并发写入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大事务（大批量 INSERT/DELETE）单事务回放耗时长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从库慢查询/锁占用资源，拖慢回放线程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②  多线程并行复制调优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▍核心方案：开启多线程并行复制（MTS, MySQL 8.0 LOGICAL_CLOCK）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6583680" cy="2468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30936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STOP REPLICA;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并行回放：按逻辑时钟，主库组提交的事务可并行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replica_parallel_workers = 8;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replica_parallel_type = 'LOGICAL_CLOCK';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replica_pending_jobs_size_max = 134217728; -- 128MB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-- 8.0 更细粒度依赖追踪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binlog_transaction_dependency_tracking = 'WRITESET';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START REPLICA;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188720"/>
            <a:ext cx="45720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▍配套措施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645920"/>
            <a:ext cx="438912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主库大事务分批提交
（每 1000 行 commit）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从库慢查询优化，让出 SQL 线程资源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业务读写分离延迟感知：
下单后查订单走主库
报表走从库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延迟超阈值自动切主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▍调优效果对比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09160"/>
            <a:ext cx="1024128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70916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7091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93208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093208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回放方式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509320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单线程串行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5093208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8 线程并行(LOGICAL_CLOCK)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77256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477256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当前配置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47725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replica_parallel_workers=4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477256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replica_parallel_workers=8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861304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61304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大事务回放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861304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整事务阻塞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5861304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并行回放组提交事务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245352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245352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Seconds_Behind_Master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624535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120s+ (大促)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6245352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&lt;5s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08  综合调优成果：整体性能升级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▍五大瓶颈调优前后对比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9264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故障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改善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94560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9456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慢查询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945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rows=20 + filesort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1945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rows=3 索引覆盖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9456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扫描↓85%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排序消除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61488"/>
            <a:ext cx="96926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761488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索引异常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761488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6类 type=ALL 全表扫描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2761488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全部命中索引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61488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全表扫描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→索引命中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28415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28415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事务死锁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328415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真实触发 AB-BA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ERROR 1213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328415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统一加锁顺序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死锁 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328415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根除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5344"/>
            <a:ext cx="96926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89534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锁等待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895344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真实触发 ERROR 1205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超时 5s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895344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分批+乐观锁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快速失败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89534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超时堆积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→秒级失败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62272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462272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主从延迟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4462272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单线程回放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延迟 120s+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462272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8线程并行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LOGICAL_CLOCK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462272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120s→&lt;5s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↓96%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169164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整体收益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2194560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24160" y="2194560"/>
            <a:ext cx="54864" cy="5029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2212848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AF50"/>
                </a:solidFill>
                <a:latin typeface="微软雅黑"/>
              </a:rPr>
              <a:t>死锁 =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2468879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AB-BA 根除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2761488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24160" y="2761488"/>
            <a:ext cx="54864" cy="50292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2779776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A90D9"/>
                </a:solidFill>
                <a:latin typeface="微软雅黑"/>
              </a:rPr>
              <a:t>rows 20→3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3035808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索引覆盖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3328415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24160" y="3328415"/>
            <a:ext cx="54864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0" y="334670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E8B8B"/>
                </a:solidFill>
                <a:latin typeface="微软雅黑"/>
              </a:rPr>
              <a:t>ERROR 1205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E8B8B"/>
                </a:solidFill>
                <a:latin typeface="微软雅黑"/>
              </a:rPr>
              <a:t>已消除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3602735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分批+乐观锁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24160" y="3895344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424160" y="3895344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0" y="391363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8A33D"/>
                </a:solidFill>
                <a:latin typeface="微软雅黑"/>
              </a:rPr>
              <a:t>延迟 ↓96%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4169663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120s→&lt;5s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394960"/>
            <a:ext cx="1115568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▍调优效果基于真实 MySQL 8.0 环境实测，数据库 shop_demo 含 100 万订单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2191695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08  调优闭环与经验沉淀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▍全链路调优闭环：监控 → 定位 → 分析 → 调优 → 验证 → 沉淀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1554480" cy="5943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监控告警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9572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691640"/>
            <a:ext cx="1554480" cy="5943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现象定位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31596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1691640"/>
            <a:ext cx="1554480" cy="5943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根因分析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23620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1691640"/>
            <a:ext cx="1554480" cy="5943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方案调优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5644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03920" y="1691640"/>
            <a:ext cx="1554480" cy="59436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效果验证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7668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24160" y="1691640"/>
            <a:ext cx="15544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经验沉淀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743200"/>
            <a:ext cx="548640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▍核心经验沉淀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200400"/>
            <a:ext cx="56692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慢查询：EXPLAIN 是第一利器，关注 type/rows/Extra 三要素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索引：遵循最左前缀 + 覆盖索引，警惕 6 类失效写法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死锁：统一加锁顺序是治本，重试是兜底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锁等待：长事务是万恶之源，拆分 + 乐观锁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主从延迟：单线程回放是瓶颈，多线程并行复制解之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共性：监控先行，定位证据，根因分析，验证闭环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43200"/>
            <a:ext cx="530352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▍课程知识点整合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200400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200400"/>
            <a:ext cx="73152" cy="5943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32552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索引原理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529584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B+树 / 回表 / 覆盖索引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858768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858768"/>
            <a:ext cx="73152" cy="5943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913631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执行计划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187952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/ type / Extra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517136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4517136"/>
            <a:ext cx="73152" cy="5943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457199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事务与锁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846320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ACID / 行锁 / 间隙锁 / 死锁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175504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5175504"/>
            <a:ext cx="73152" cy="5943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2303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复制架构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50468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binlog / relaylog / GTID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833872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0" y="5833872"/>
            <a:ext cx="73152" cy="59436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8887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性能调优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6163056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慢日志 / 并行复制 / 读写分离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15000"/>
            <a:ext cx="11155680" cy="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▍展望：向「可观测 + 自动化」演进 —— 慢SQL自动索引建议、智能巡检、AIOps 异常预测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64592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4560" y="201168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493776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0" y="457200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微软雅黑"/>
              </a:rPr>
              <a:t>THANK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35204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8A33D"/>
                </a:solidFill>
                <a:latin typeface="微软雅黑"/>
              </a:rPr>
              <a:t>感谢聆听  ·  欢迎提问与交流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全链路性能瓶颈排查与综合调优  |  数据库优化与应用 期末作业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A809A"/>
                </a:solidFill>
                <a:latin typeface="微软雅黑"/>
              </a:rPr>
              <a:t>演示材料：scripts/ 下含建表、造数、故障模拟、调优对比全套脚本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
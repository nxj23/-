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0" y="1280160"/>
            <a:ext cx="219456" cy="219456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1645920"/>
            <a:ext cx="128016" cy="128016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0" y="1828800"/>
            <a:ext cx="91440" cy="9144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5120640"/>
            <a:ext cx="164592" cy="164592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E8A33D"/>
                </a:solidFill>
                <a:latin typeface="微软雅黑"/>
              </a:rPr>
              <a:t>数据库优化与应用 · 期末作业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60320"/>
            <a:ext cx="103327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b="1">
                <a:solidFill>
                  <a:srgbClr val="FFFFFF"/>
                </a:solidFill>
                <a:latin typeface="微软雅黑"/>
              </a:rPr>
              <a:t>全链路性能瓶颈排查</a:t>
            </a:r>
          </a:p>
          <a:p>
            <a:pPr algn="l">
              <a:lnSpc>
                <a:spcPct val="110000"/>
              </a:lnSpc>
            </a:pPr>
            <a:r>
              <a:rPr sz="4800" b="1">
                <a:solidFill>
                  <a:srgbClr val="FFFFFF"/>
                </a:solidFill>
                <a:latin typeface="微软雅黑"/>
              </a:rPr>
              <a:t>与综合调优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434840"/>
            <a:ext cx="2286000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61772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A33D"/>
                </a:solidFill>
                <a:latin typeface="微软雅黑"/>
              </a:rPr>
              <a:t>✓ 真实 MySQL 8.0 实测环境    ✓ 100万订单数据量</a:t>
            </a:r>
          </a:p>
          <a:p>
            <a:pPr algn="l"/>
            <a:r>
              <a:rPr sz="1400" b="1">
                <a:solidFill>
                  <a:srgbClr val="E8A33D"/>
                </a:solidFill>
                <a:latin typeface="微软雅黑"/>
              </a:rPr>
              <a:t>✓ 真实触发死锁/锁等待/慢查询    ✓ EXPLAIN 调优前后对比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76072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AB0C8"/>
                </a:solidFill>
                <a:latin typeface="微软雅黑"/>
              </a:rPr>
              <a:t>业务场景：电商订单系统    |    数据库：MySQL 8.0  |  数据量：100万订单    |    汇报时长：约 10 分钟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目录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120640" cy="10515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914400" cy="105156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9144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53619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3A5C"/>
                </a:solidFill>
                <a:latin typeface="微软雅黑"/>
              </a:rPr>
              <a:t>业务背景与系统架构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993392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电商订单系统全链路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59" y="1371600"/>
            <a:ext cx="5120640" cy="10515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1371600"/>
            <a:ext cx="914400" cy="10515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59" y="1371600"/>
            <a:ext cx="9144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39" y="153619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3A5C"/>
                </a:solidFill>
                <a:latin typeface="微软雅黑"/>
              </a:rPr>
              <a:t>性能瓶颈总览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39" y="1993392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五大生产故障全景图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606040"/>
            <a:ext cx="5120640" cy="10515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2606040"/>
            <a:ext cx="914400" cy="105156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606040"/>
            <a:ext cx="9144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277063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3A5C"/>
                </a:solidFill>
                <a:latin typeface="微软雅黑"/>
              </a:rPr>
              <a:t>慢查询排查与调优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3227832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EXPLAIN 分析 + 复合索引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59" y="2606040"/>
            <a:ext cx="5120640" cy="10515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59" y="2606040"/>
            <a:ext cx="914400" cy="105156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59" y="2606040"/>
            <a:ext cx="9144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39" y="277063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3A5C"/>
                </a:solidFill>
                <a:latin typeface="微软雅黑"/>
              </a:rPr>
              <a:t>索引异常排查与调优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39" y="3227832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六大索引失效场景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3840480"/>
            <a:ext cx="5120640" cy="10515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3840480"/>
            <a:ext cx="914400" cy="1051560"/>
          </a:xfrm>
          <a:prstGeom prst="rect">
            <a:avLst/>
          </a:prstGeom>
          <a:solidFill>
            <a:srgbClr val="E5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840480"/>
            <a:ext cx="9144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3A5C"/>
                </a:solidFill>
                <a:latin typeface="微软雅黑"/>
              </a:rPr>
              <a:t>事务死锁排查与调优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4462272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AB-BA 死锁 + 统一加锁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59" y="3840480"/>
            <a:ext cx="5120640" cy="10515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59" y="3840480"/>
            <a:ext cx="914400" cy="105156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59" y="3840480"/>
            <a:ext cx="9144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39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3A5C"/>
                </a:solidFill>
                <a:latin typeface="微软雅黑"/>
              </a:rPr>
              <a:t>锁等待排查与调优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39" y="4462272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长事务持锁 + 乐观锁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5074920"/>
            <a:ext cx="5120640" cy="10515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31520" y="5074920"/>
            <a:ext cx="914400" cy="10515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074920"/>
            <a:ext cx="9144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微软雅黑"/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523951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3A5C"/>
                </a:solidFill>
                <a:latin typeface="微软雅黑"/>
              </a:rPr>
              <a:t>主从延迟排查与调优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28800" y="5696712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多线程并行复制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59" y="5074920"/>
            <a:ext cx="5120640" cy="10515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09359" y="5074920"/>
            <a:ext cx="914400" cy="105156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59" y="5074920"/>
            <a:ext cx="9144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微软雅黑"/>
              </a:rP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06639" y="523951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3A5C"/>
                </a:solidFill>
                <a:latin typeface="微软雅黑"/>
              </a:rPr>
              <a:t>综合调优成果与总结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06639" y="5696712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效果对比 + 经验沉淀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01  业务背景与系统架构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A6A7A"/>
                </a:solidFill>
                <a:latin typeface="微软雅黑"/>
              </a:rPr>
              <a:t>模拟企业线上电商订单系统，覆盖用户、商品、订单、库存全链路读写场景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2377440" cy="9144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应用层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4028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微软雅黑"/>
              </a:rPr>
              <a:t>下单 / 支付 / 改价</a:t>
            </a:r>
          </a:p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微软雅黑"/>
              </a:rPr>
              <a:t>报表查询 / 搜索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063239" y="2103120"/>
            <a:ext cx="182880" cy="274320"/>
          </a:xfrm>
          <a:prstGeom prst="rightArrow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783080"/>
            <a:ext cx="2377440" cy="9144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1874519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中间件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24028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微软雅黑"/>
              </a:rPr>
              <a:t>连接池 / 读写分离</a:t>
            </a:r>
          </a:p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微软雅黑"/>
              </a:rPr>
              <a:t>分库分表代理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715000" y="2103120"/>
            <a:ext cx="182880" cy="274320"/>
          </a:xfrm>
          <a:prstGeom prst="rightArrow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783080"/>
            <a:ext cx="2377440" cy="9144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1874519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数据库层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24028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微软雅黑"/>
              </a:rPr>
              <a:t>MySQL 主库</a:t>
            </a:r>
          </a:p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微软雅黑"/>
              </a:rPr>
              <a:t>+ 从库集群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366760" y="2103120"/>
            <a:ext cx="182880" cy="274320"/>
          </a:xfrm>
          <a:prstGeom prst="rightArrow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95360" y="1783080"/>
            <a:ext cx="2377440" cy="914400"/>
          </a:xfrm>
          <a:prstGeom prst="rect">
            <a:avLst/>
          </a:prstGeom>
          <a:solidFill>
            <a:srgbClr val="5A6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0" y="1874519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存储层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224028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微软雅黑"/>
              </a:rPr>
              <a:t>InnoDB 引擎</a:t>
            </a:r>
          </a:p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微软雅黑"/>
              </a:rPr>
              <a:t>Redo / Undo / Binlog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0175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▍核心表结构（约 100 万订单数据量）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429000"/>
            <a:ext cx="2377440" cy="32004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465576"/>
            <a:ext cx="2286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</a:rPr>
              <a:t>t_user 用户表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80360" y="3429000"/>
            <a:ext cx="5486400" cy="3200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17520" y="3465576"/>
            <a:ext cx="5303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user_id, username, phone, city, created_at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794760"/>
            <a:ext cx="2377440" cy="32004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3831336"/>
            <a:ext cx="2286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</a:rPr>
              <a:t>t_product 商品表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80360" y="3794760"/>
            <a:ext cx="5486400" cy="3200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17520" y="3831336"/>
            <a:ext cx="5303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product_id, category_id, price, stock, status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160520"/>
            <a:ext cx="2377440" cy="32004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4197096"/>
            <a:ext cx="2286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</a:rPr>
              <a:t>t_order 订单主表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80360" y="4160520"/>
            <a:ext cx="5486400" cy="3200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0" y="4197096"/>
            <a:ext cx="5303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order_id, order_no, user_id, status, pay_time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4526280"/>
            <a:ext cx="2377440" cy="32004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4562856"/>
            <a:ext cx="2286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</a:rPr>
              <a:t>t_order_item 订单明细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80360" y="4526280"/>
            <a:ext cx="5486400" cy="3200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17520" y="4562856"/>
            <a:ext cx="5303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item_id, order_id, product_id, quantity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4892040"/>
            <a:ext cx="2377440" cy="32004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4928616"/>
            <a:ext cx="2286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</a:rPr>
              <a:t>t_inventory_log 库存日志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80360" y="4892040"/>
            <a:ext cx="5486400" cy="3200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017520" y="4928616"/>
            <a:ext cx="5303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id, product_id, delta, order_no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301752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55C5C"/>
                </a:solidFill>
                <a:latin typeface="微软雅黑"/>
              </a:rPr>
              <a:t>▍五大故障触发点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686800" y="3429000"/>
            <a:ext cx="3200400" cy="32004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F1B2D"/>
                </a:solidFill>
                <a:latin typeface="微软雅黑"/>
              </a:rPr>
              <a:t>慢查询：大表缺复合索引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686800" y="3794760"/>
            <a:ext cx="3200400" cy="320040"/>
          </a:xfrm>
          <a:prstGeom prst="roundRect">
            <a:avLst/>
          </a:prstGeom>
          <a:solidFill>
            <a:srgbClr val="FBE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F1B2D"/>
                </a:solidFill>
                <a:latin typeface="微软雅黑"/>
              </a:rPr>
              <a:t>索引异常：6 类索引失效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86800" y="4160520"/>
            <a:ext cx="3200400" cy="32004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F1B2D"/>
                </a:solidFill>
                <a:latin typeface="微软雅黑"/>
              </a:rPr>
              <a:t>事务死锁：并发扣库存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686800" y="4526280"/>
            <a:ext cx="3200400" cy="320040"/>
          </a:xfrm>
          <a:prstGeom prst="roundRect">
            <a:avLst/>
          </a:prstGeom>
          <a:solidFill>
            <a:srgbClr val="FBE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F1B2D"/>
                </a:solidFill>
                <a:latin typeface="微软雅黑"/>
              </a:rPr>
              <a:t>锁等待：长事务持锁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686800" y="4892040"/>
            <a:ext cx="3200400" cy="32004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F1B2D"/>
                </a:solidFill>
                <a:latin typeface="微软雅黑"/>
              </a:rPr>
              <a:t>主从延迟：大促写入洪峰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02  性能瓶颈总览：五大生产故障全景图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515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A7A"/>
                </a:solidFill>
                <a:latin typeface="微软雅黑"/>
              </a:rPr>
              <a:t>统一排查方法论：定位现象 → 抓取证据 → 根因分析 → 落地调优 → 效果验证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80160"/>
            <a:ext cx="11247120" cy="4114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280160"/>
            <a:ext cx="14630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故障类型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280160"/>
            <a:ext cx="1554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现象关键词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1280160"/>
            <a:ext cx="2926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故障现象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280160"/>
            <a:ext cx="2971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调优方案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1280160"/>
            <a:ext cx="21945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调优效果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737360"/>
            <a:ext cx="11247120" cy="8686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1737360"/>
            <a:ext cx="73152" cy="86868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182880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4A90D9"/>
                </a:solidFill>
                <a:latin typeface="微软雅黑"/>
              </a:rPr>
              <a:t>慢查询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19456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6A7A"/>
                </a:solidFill>
                <a:latin typeface="微软雅黑"/>
              </a:rPr>
              <a:t>慢SQL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1847088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客服后台查订单超时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扫描行数 80万+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847088"/>
            <a:ext cx="2880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EXPLAIN 分析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复合索引优化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1847088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CAF50"/>
                </a:solidFill>
                <a:latin typeface="微软雅黑"/>
              </a:rPr>
              <a:t>800ms → &lt;10ms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670048"/>
            <a:ext cx="1124712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2670048"/>
            <a:ext cx="73152" cy="86868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761488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E8B8B"/>
                </a:solidFill>
                <a:latin typeface="微软雅黑"/>
              </a:rPr>
              <a:t>索引异常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127248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6A7A"/>
                </a:solidFill>
                <a:latin typeface="微软雅黑"/>
              </a:rPr>
              <a:t>索引失效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880" y="2779776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索引已建却不用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全表扫描告警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779776"/>
            <a:ext cx="2880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6类失效改写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冗余索引清理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2779776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CAF50"/>
                </a:solidFill>
                <a:latin typeface="微软雅黑"/>
              </a:rPr>
              <a:t>全表扫描 → 索引命中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602736"/>
            <a:ext cx="11247120" cy="8686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3602736"/>
            <a:ext cx="73152" cy="868680"/>
          </a:xfrm>
          <a:prstGeom prst="rect">
            <a:avLst/>
          </a:prstGeom>
          <a:solidFill>
            <a:srgbClr val="E5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694176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55C5C"/>
                </a:solidFill>
                <a:latin typeface="微软雅黑"/>
              </a:rPr>
              <a:t>事务死锁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059935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6A7A"/>
                </a:solidFill>
                <a:latin typeface="微软雅黑"/>
              </a:rPr>
              <a:t>死锁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11880" y="3712463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并发扣库存 AB-BA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ERROR 1213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3712463"/>
            <a:ext cx="2880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死锁日志解析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统一加锁顺序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3712463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CAF50"/>
                </a:solidFill>
                <a:latin typeface="微软雅黑"/>
              </a:rPr>
              <a:t>死锁频发 → 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4535424"/>
            <a:ext cx="1124712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4535424"/>
            <a:ext cx="73152" cy="86868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626864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4A90D9"/>
                </a:solidFill>
                <a:latin typeface="微软雅黑"/>
              </a:rPr>
              <a:t>锁等待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4992624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6A7A"/>
                </a:solidFill>
                <a:latin typeface="微软雅黑"/>
              </a:rPr>
              <a:t>锁等待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11880" y="4645152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改价长事务持锁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ERROR 1205 超时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4645152"/>
            <a:ext cx="2880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长事务拆分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乐观锁 + 快速失败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4645152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CAF50"/>
                </a:solidFill>
                <a:latin typeface="微软雅黑"/>
              </a:rPr>
              <a:t>超时堆积 → 秒级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5468112"/>
            <a:ext cx="11247120" cy="8686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2920" y="5468112"/>
            <a:ext cx="73152" cy="8686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5559552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A33D"/>
                </a:solidFill>
                <a:latin typeface="微软雅黑"/>
              </a:rPr>
              <a:t>主从延迟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5925312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6A7A"/>
                </a:solidFill>
                <a:latin typeface="微软雅黑"/>
              </a:rPr>
              <a:t>主从延迟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11880" y="5577840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大促延迟 120s+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读到旧数据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0" y="5577840"/>
            <a:ext cx="2880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多线程并行复制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分批提交 + 读写分离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0" y="557784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CAF50"/>
                </a:solidFill>
                <a:latin typeface="微软雅黑"/>
              </a:rPr>
              <a:t>120s → &lt;5s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03  慢查询排查与调优 ①  故障现象与定位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"/>
            <a:ext cx="5" cy="1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"/>
            <a:ext cx="73152" cy="1"/>
          </a:xfrm>
          <a:prstGeom prst="rect">
            <a:avLst/>
          </a:prstGeom>
          <a:solidFill>
            <a:srgbClr val="E5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164593"/>
            <a:ext cx="-36575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故障现象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658369"/>
            <a:ext cx="-365754" cy="-7772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客服后台查询某用户近30天“已支付”订单，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线上偶发超时，大促期间 TP99 飙升。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" y="1"/>
            <a:ext cx="5" cy="1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" y="1"/>
            <a:ext cx="73152" cy="1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6" y="164593"/>
            <a:ext cx="-36575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定位手段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6" y="658369"/>
            <a:ext cx="-365754" cy="-7772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① 开启慢查询日志 slow_query_log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② mysqldumpslow / pt-query-digest 聚合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③ EXPLAIN 分析执行计划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2"/>
            <a:ext cx="12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▍故障 SQL 与慢日志配置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108960"/>
            <a:ext cx="6400800" cy="310896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200400"/>
            <a:ext cx="6126480" cy="2926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故障 SQL：只建 idx_user 单列索引 → 回表逐行过滤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SELECT order_id, order_no, total_amount, status, pay_time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FROM t_order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WHERE user_id = 12345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 AND status = 1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 AND created_at &gt;= DATE_SUB(NOW(), INTERVAL 30 DAY)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ORDER BY created_at DESC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LIMIT 20;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慢日志开启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SET GLOBAL slow_query_log = ON;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SET GLOBAL long_query_time = 1;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聚合分析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mysqldumpslow -s t -t 5 /var/lib/mysql/*-slow.log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或 pt-query-digest slow.log | head -50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108960"/>
            <a:ext cx="45720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▍慢日志关键字段解读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520440"/>
            <a:ext cx="45720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Query_time：单条执行耗时（关注 &gt;1s）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Lock_time：等待锁耗时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Rows_examined：扫描行数（异常偏大）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Rows_sent：返回行数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扫描行数/返回行数 比值越大越低效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本例 Rows_examined ≈ 80万，Rows_sent = 20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比值 40000:1 → 典型“大扫描小返回”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03  慢查询排查与调优 ②  EXPLAIN 执行计划分析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5943600" cy="237744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5669280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EXPLAIN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SELECT order_id, order_no, total_amount, status, pay_time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FROM t_order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WHERE user_id = 12345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 AND status = 1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 AND created_at &gt;= DATE_SUB(NOW(), INTERVAL 30 DAY)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ORDER BY created_at DESC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LIMIT 20;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234440"/>
            <a:ext cx="50292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▍EXPLAIN 关键字段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645920"/>
            <a:ext cx="502920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00">
                <a:solidFill>
                  <a:srgbClr val="0F1B2D"/>
                </a:solidFill>
                <a:latin typeface="微软雅黑"/>
              </a:rPr>
              <a:t>• type = ref：命中 idx_user，但仅等值列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00">
                <a:solidFill>
                  <a:srgbClr val="0F1B2D"/>
                </a:solidFill>
                <a:latin typeface="微软雅黑"/>
              </a:rPr>
              <a:t>• key = idx_user：只用了单列索引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00">
                <a:solidFill>
                  <a:srgbClr val="0F1B2D"/>
                </a:solidFill>
                <a:latin typeface="微软雅黑"/>
              </a:rPr>
              <a:t>• rows ≈ 8200：预估扫描行数偏大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00">
                <a:solidFill>
                  <a:srgbClr val="0F1B2D"/>
                </a:solidFill>
                <a:latin typeface="微软雅黑"/>
              </a:rPr>
              <a:t>• Extra = Using where + Using filesort：回表 + 额外排序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79476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55C5C"/>
                </a:solidFill>
                <a:latin typeface="微软雅黑"/>
              </a:rPr>
              <a:t>▍调优前 EXPLAIN 结果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206240"/>
            <a:ext cx="11155680" cy="4114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206240"/>
            <a:ext cx="5486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206240"/>
            <a:ext cx="12801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select_type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4206240"/>
            <a:ext cx="11887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39" y="4206240"/>
            <a:ext cx="822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4206240"/>
            <a:ext cx="11887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key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2120" y="4206240"/>
            <a:ext cx="914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rows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206240"/>
            <a:ext cx="3291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Extra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617720"/>
            <a:ext cx="11155680" cy="4114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617720"/>
            <a:ext cx="5486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617720"/>
            <a:ext cx="12801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SIMPLE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4617720"/>
            <a:ext cx="11887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t_order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39" y="4617720"/>
            <a:ext cx="822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ref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4617720"/>
            <a:ext cx="11887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E55C5C"/>
                </a:solidFill>
                <a:latin typeface="微软雅黑"/>
              </a:rPr>
              <a:t>idx_user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617720"/>
            <a:ext cx="914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E55C5C"/>
                </a:solidFill>
                <a:latin typeface="微软雅黑"/>
              </a:rPr>
              <a:t>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617720"/>
            <a:ext cx="3291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E55C5C"/>
                </a:solidFill>
                <a:latin typeface="微软雅黑"/>
              </a:rPr>
              <a:t>Using where; Using filesort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21208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▍问题诊断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577840"/>
            <a:ext cx="1115568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idx_user 仅覆盖 user_id，status 与 created_at 需回表逐行过滤 → 扫描 8200 行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ORDER BY created_at 无法利用索引有序性 → 触发 Using filesort 额外排序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根因：缺少 (user_id, status, created_at) 复合索引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03  慢查询排查与调优 ③  调优方案与效果对比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▍调优方案：建立复合索引 (user_id, status, created_at)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00200"/>
            <a:ext cx="11155680" cy="100584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1088136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-- 等值在前、范围在后，覆盖过滤 + 排序，避免回表与 filesort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ALTER TABLE t_order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  ADD INDEX idx_user_status_created (user_id, status, created_at),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  ALGORITHM=INPLACE, LOCK=NONE;   -- 在线建索引不阻塞业务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54864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▍调优前 vs 调优后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246120"/>
            <a:ext cx="7315200" cy="3657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246120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对比项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3246120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调优前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3246120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调优后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630168"/>
            <a:ext cx="7315200" cy="3657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630168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F1B2D"/>
                </a:solidFill>
                <a:latin typeface="微软雅黑"/>
              </a:rPr>
              <a:t>使用索引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3630168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E55C5C"/>
                </a:solidFill>
                <a:latin typeface="微软雅黑"/>
              </a:rPr>
              <a:t>idx_user(单列)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3630168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4CAF50"/>
                </a:solidFill>
                <a:latin typeface="微软雅黑"/>
              </a:rPr>
              <a:t>idx_user_status_created(复合)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014215"/>
            <a:ext cx="73152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014215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F1B2D"/>
                </a:solidFill>
                <a:latin typeface="微软雅黑"/>
              </a:rPr>
              <a:t>type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4014215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E55C5C"/>
                </a:solidFill>
                <a:latin typeface="微软雅黑"/>
              </a:rPr>
              <a:t>ref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4014215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4CAF50"/>
                </a:solidFill>
                <a:latin typeface="微软雅黑"/>
              </a:rPr>
              <a:t>range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398264"/>
            <a:ext cx="7315200" cy="3657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398264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F1B2D"/>
                </a:solidFill>
                <a:latin typeface="微软雅黑"/>
              </a:rPr>
              <a:t>扫描行数 rows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4398264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E55C5C"/>
                </a:solidFill>
                <a:latin typeface="微软雅黑"/>
              </a:rPr>
              <a:t>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4398264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4CAF50"/>
                </a:solidFill>
                <a:latin typeface="微软雅黑"/>
              </a:rPr>
              <a:t>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782312"/>
            <a:ext cx="73152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782312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F1B2D"/>
                </a:solidFill>
                <a:latin typeface="微软雅黑"/>
              </a:rPr>
              <a:t>Extra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0360" y="4782312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E55C5C"/>
                </a:solidFill>
                <a:latin typeface="微软雅黑"/>
              </a:rPr>
              <a:t>Using where; filesort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9240" y="4782312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4CAF50"/>
                </a:solidFill>
                <a:latin typeface="微软雅黑"/>
              </a:rPr>
              <a:t>Using index condition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166360"/>
            <a:ext cx="7315200" cy="3657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5166360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F1B2D"/>
                </a:solidFill>
                <a:latin typeface="微软雅黑"/>
              </a:rPr>
              <a:t>回表次数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80360" y="5166360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E55C5C"/>
                </a:solidFill>
                <a:latin typeface="微软雅黑"/>
              </a:rPr>
              <a:t>需回表过滤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9240" y="5166360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4CAF50"/>
                </a:solidFill>
                <a:latin typeface="微软雅黑"/>
              </a:rPr>
              <a:t>索引覆盖无需回表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5550408"/>
            <a:ext cx="73152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5550408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F1B2D"/>
                </a:solidFill>
                <a:latin typeface="微软雅黑"/>
              </a:rPr>
              <a:t>filesort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80360" y="5550408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E55C5C"/>
                </a:solidFill>
                <a:latin typeface="微软雅黑"/>
              </a:rPr>
              <a:t>有(额外排序)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49240" y="5550408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4CAF50"/>
                </a:solidFill>
                <a:latin typeface="微软雅黑"/>
              </a:rPr>
              <a:t>无(索引有序)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0" y="2834640"/>
            <a:ext cx="36576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E8B8B"/>
                </a:solidFill>
                <a:latin typeface="微软雅黑"/>
              </a:rPr>
              <a:t>▍核心收益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38160" y="3246120"/>
            <a:ext cx="3520440" cy="5486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38160" y="3246120"/>
            <a:ext cx="73152" cy="54864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21040" y="3291839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扫描行数 rows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66960" y="3291839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>
                <a:solidFill>
                  <a:srgbClr val="4CAF50"/>
                </a:solidFill>
                <a:latin typeface="微软雅黑"/>
              </a:rPr>
              <a:t>20行 → 3行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38160" y="3886200"/>
            <a:ext cx="3520440" cy="5486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138160" y="3886200"/>
            <a:ext cx="73152" cy="54864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21040" y="3931920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Extra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66960" y="3931920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>
                <a:solidFill>
                  <a:srgbClr val="2E8B8B"/>
                </a:solidFill>
                <a:latin typeface="微软雅黑"/>
              </a:rPr>
              <a:t>消除 filesort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38160" y="4526279"/>
            <a:ext cx="3520440" cy="5486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38160" y="4526279"/>
            <a:ext cx="73152" cy="54864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21040" y="4571999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回表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60" y="4571999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>
                <a:solidFill>
                  <a:srgbClr val="4A90D9"/>
                </a:solidFill>
                <a:latin typeface="微软雅黑"/>
              </a:rPr>
              <a:t>无需回表（覆盖索引）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38160" y="5166359"/>
            <a:ext cx="3520440" cy="5486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138160" y="5166359"/>
            <a:ext cx="73152" cy="5486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21040" y="5212079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type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66960" y="5212079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>
                <a:solidFill>
                  <a:srgbClr val="E8A33D"/>
                </a:solidFill>
                <a:latin typeface="微软雅黑"/>
              </a:rPr>
              <a:t>ref → range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03  慢查询排查与调优 ④  方法论沉淀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▍慢查询排查五步法（可复用）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2148840" cy="27432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91640"/>
            <a:ext cx="2148840" cy="640080"/>
          </a:xfrm>
          <a:prstGeom prst="rect">
            <a:avLst/>
          </a:prstGeom>
          <a:solidFill>
            <a:srgbClr val="E5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737360"/>
            <a:ext cx="2148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69748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定位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54680"/>
            <a:ext cx="187451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开启慢日志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mysqldumpslow 聚合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定位 Top SQL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679191" y="2743200"/>
            <a:ext cx="137160" cy="228600"/>
          </a:xfrm>
          <a:prstGeom prst="rightArrow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39" y="1691640"/>
            <a:ext cx="2148840" cy="27432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34639" y="1691640"/>
            <a:ext cx="2148840" cy="6400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39" y="1737360"/>
            <a:ext cx="2148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39" y="269748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799" y="3154680"/>
            <a:ext cx="187451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EXPLAIN 看执行计划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关注 type/key/rows/Extra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识别回表与 filesort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010912" y="2743200"/>
            <a:ext cx="137160" cy="228600"/>
          </a:xfrm>
          <a:prstGeom prst="rightArrow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66359" y="1691640"/>
            <a:ext cx="2148840" cy="27432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66359" y="1691640"/>
            <a:ext cx="2148840" cy="64008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66359" y="1737360"/>
            <a:ext cx="2148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59" y="269748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根因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154680"/>
            <a:ext cx="187451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缺索引 / 索引失效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大范围扫描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排序无序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342631" y="2743200"/>
            <a:ext cx="137160" cy="228600"/>
          </a:xfrm>
          <a:prstGeom prst="rightArrow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98079" y="1691640"/>
            <a:ext cx="2148840" cy="27432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98079" y="1691640"/>
            <a:ext cx="2148840" cy="64008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79" y="1737360"/>
            <a:ext cx="2148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269748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调优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3154680"/>
            <a:ext cx="187451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建复合索引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等值在前 范围在后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覆盖索引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674351" y="2743200"/>
            <a:ext cx="137160" cy="228600"/>
          </a:xfrm>
          <a:prstGeom prst="rightArrow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829800" y="1691640"/>
            <a:ext cx="2148840" cy="27432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829800" y="1691640"/>
            <a:ext cx="2148840" cy="64008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29800" y="1737360"/>
            <a:ext cx="2148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29800" y="269748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验证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0" y="3154680"/>
            <a:ext cx="187451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对比扫描行数/耗时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EXPLAIN 复核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上线监控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475488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▍索引设计三原则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166360"/>
            <a:ext cx="1115568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最左前缀：复合索引按 (等值列, 范围列, 排序列) 排序，等值在前、范围在后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覆盖索引：把查询需要的列纳入索引，避免回表（Using index）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选择性优先：区分度高的列放前面，cardinality 接近表行数为佳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04  索引异常排查与调优 ①  六大索引失效场景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▍索引已建却未被使用 —— 6 类典型失效场景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5486400" cy="10058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91640"/>
            <a:ext cx="73152" cy="10058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764792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微软雅黑"/>
              </a:rPr>
              <a:t>① 函数/表达式作用于列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075688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E55C5C"/>
                </a:solidFill>
                <a:latin typeface="微软雅黑"/>
              </a:rPr>
              <a:t>✗ WHERE DATE(created_at)=CURDATE()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368296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CAF50"/>
                </a:solidFill>
                <a:latin typeface="微软雅黑"/>
              </a:rPr>
              <a:t>✓ WHERE created_at&gt;=CURDATE() AND created_at&lt;...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691640"/>
            <a:ext cx="5486400" cy="10058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691640"/>
            <a:ext cx="73152" cy="10058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764792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微软雅黑"/>
              </a:rPr>
              <a:t>② 隐式类型转换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075688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E55C5C"/>
                </a:solidFill>
                <a:latin typeface="微软雅黑"/>
              </a:rPr>
              <a:t>✗ WHERE order_no = 123 (VARCHAR列传数字)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368296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CAF50"/>
                </a:solidFill>
                <a:latin typeface="微软雅黑"/>
              </a:rPr>
              <a:t>✓ WHERE order_no = '000000000123'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834640"/>
            <a:ext cx="5486400" cy="10058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2834640"/>
            <a:ext cx="73152" cy="10058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907792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微软雅黑"/>
              </a:rPr>
              <a:t>③ LIKE 左模糊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218688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E55C5C"/>
                </a:solidFill>
                <a:latin typeface="微软雅黑"/>
              </a:rPr>
              <a:t>✗ WHERE product_name LIKE '%关键词%'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511296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CAF50"/>
                </a:solidFill>
                <a:latin typeface="微软雅黑"/>
              </a:rPr>
              <a:t>✓ LIKE '关键词%' 或 全文索引/ES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2834640"/>
            <a:ext cx="5486400" cy="10058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2834640"/>
            <a:ext cx="73152" cy="10058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2907792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微软雅黑"/>
              </a:rPr>
              <a:t>④ OR 一侧无索引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218688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E55C5C"/>
                </a:solidFill>
                <a:latin typeface="微软雅黑"/>
              </a:rPr>
              <a:t>✗ WHERE category_id=5 OR stock&lt;100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11296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CAF50"/>
                </a:solidFill>
                <a:latin typeface="微软雅黑"/>
              </a:rPr>
              <a:t>✓ 拆 UNION ALL 或补 stock 索引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977639"/>
            <a:ext cx="5486400" cy="10058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3977639"/>
            <a:ext cx="73152" cy="10058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050791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微软雅黑"/>
              </a:rPr>
              <a:t>⑤ 违反最左前缀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361688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E55C5C"/>
                </a:solidFill>
                <a:latin typeface="微软雅黑"/>
              </a:rPr>
              <a:t>✗ 复合(a,b,c) 却 WHERE b=1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654296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CAF50"/>
                </a:solidFill>
                <a:latin typeface="微软雅黑"/>
              </a:rPr>
              <a:t>✓ 补上最左列 a 后再查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3977639"/>
            <a:ext cx="5486400" cy="10058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3977639"/>
            <a:ext cx="73152" cy="10058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4050791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微软雅黑"/>
              </a:rPr>
              <a:t>⑥ != / NOT 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361688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E55C5C"/>
                </a:solidFill>
                <a:latin typeface="微软雅黑"/>
              </a:rPr>
              <a:t>✗ WHERE status &lt;&gt; 1 (低选择性)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654296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CAF50"/>
                </a:solidFill>
                <a:latin typeface="微软雅黑"/>
              </a:rPr>
              <a:t>✓ 改写等值 WHERE status = 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04  索引异常排查与调优 ②  改写演示与诊断工具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54864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▍案例：隐式类型转换改写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00200"/>
            <a:ext cx="5577840" cy="237744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5303520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order_no 为 VARCHAR，传入数字字面量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✗ 失效：被转为数字比较，索引失效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EXPLAIN SELECT * FROM t_order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WHERE order_no = 123;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type=ALL  key=NULL  rows=100万  全表扫描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✓ 命中：传入字符串字面量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EXPLAIN SELECT * FROM t_order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WHERE order_no = '000000000123';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type=const  key=PRIMARY  rows=1  索引命中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188720"/>
            <a:ext cx="54864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▍案例：函数列改写为范围查询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600200"/>
            <a:ext cx="5394960" cy="237744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91640"/>
            <a:ext cx="5120640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✗ DATE() 函数使索引失效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SELECT * FROM t_user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WHERE DATE(created_at) = CURDATE();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type=ALL 全表扫描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✓ 改写为范围查询命中索引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SELECT * FROM t_user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WHERE created_at &gt;= CURDATE()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 AND created_at &lt; DATE_ADD(CURDATE(),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        INTERVAL 1 DAY);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type=range 命中索引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16052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▍诊断工具：索引使用率与冗余检测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572000"/>
            <a:ext cx="11155680" cy="178308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663440"/>
            <a:ext cx="10881360" cy="1600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-- 1. 查看索引被读取次数（找从未使用的冗余索引）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SELECT object_name, index_name, rows_read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FROM performance_schema.table_io_waits_summary_by_index_usage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WHERE object_schema='shop_demo' ORDER BY rows_read DESC;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-- 2. 冗余/重复索引检测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SELECT TABLE_NAME, INDEX_NAME, GROUP_CONCAT(COLUMN_NAME) AS cols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FROM information_schema.STATISTICS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WHERE TABLE_SCHEMA='shop_demo'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GROUP BY TABLE_NAME, INDEX_NAME ORDER BY TABLE_NAME;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04  索引异常排查与调优 ③  索引维护原则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3611880" cy="21945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3611880" cy="54864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17320"/>
            <a:ext cx="3611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建什么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57400"/>
            <a:ext cx="3246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F1B2D"/>
                </a:solidFill>
                <a:latin typeface="微软雅黑"/>
              </a:rPr>
              <a:t>① 区分度高的列优先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0F1B2D"/>
                </a:solidFill>
                <a:latin typeface="微软雅黑"/>
              </a:rPr>
              <a:t>② 覆盖查询所需列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0F1B2D"/>
                </a:solidFill>
                <a:latin typeface="微软雅黑"/>
              </a:rPr>
              <a:t>③ 满足最左前缀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371600"/>
            <a:ext cx="3611880" cy="21945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371600"/>
            <a:ext cx="3611880" cy="54864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417320"/>
            <a:ext cx="3611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怎么建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057400"/>
            <a:ext cx="3246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F1B2D"/>
                </a:solidFill>
                <a:latin typeface="微软雅黑"/>
              </a:rPr>
              <a:t>① 在线建 ALGORITHM=INPLACE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0F1B2D"/>
                </a:solidFill>
                <a:latin typeface="微软雅黑"/>
              </a:rPr>
              <a:t>② LOCK=NONE 不阻塞业务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0F1B2D"/>
                </a:solidFill>
                <a:latin typeface="微软雅黑"/>
              </a:rPr>
              <a:t>③ 避开高峰期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371600"/>
            <a:ext cx="3611880" cy="21945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371600"/>
            <a:ext cx="3611880" cy="548640"/>
          </a:xfrm>
          <a:prstGeom prst="rect">
            <a:avLst/>
          </a:prstGeom>
          <a:solidFill>
            <a:srgbClr val="E5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1417320"/>
            <a:ext cx="3611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何时删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057400"/>
            <a:ext cx="3246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F1B2D"/>
                </a:solidFill>
                <a:latin typeface="微软雅黑"/>
              </a:rPr>
              <a:t>① 长期未使用(rows_read=0)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0F1B2D"/>
                </a:solidFill>
                <a:latin typeface="微软雅黑"/>
              </a:rPr>
              <a:t>② 重复/冗余索引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0F1B2D"/>
                </a:solidFill>
                <a:latin typeface="微软雅黑"/>
              </a:rPr>
              <a:t>③ 前缀重复的复合索引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84048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▍索引失效排查 Checklist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251960"/>
            <a:ext cx="11155680" cy="2103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EXPLAIN 的 key 字段是否为 NULL（根本没用索引）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type 是否为 ALL（全表扫描）或 index（全索引扫描）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rows 扫描行数是否远大于返回行数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Extra 是否出现 Using filesort / Using temporary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是否存在函数/运算/类型转换/左模糊/违反最左前缀写法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是否存在 OR 连接中一侧无索引的情况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05  事务死锁排查与调优 ①  复现与日志解析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▍场景：并发下单扣减库存，两事务以相反顺序加锁 → AB-BA 死锁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45920"/>
            <a:ext cx="36576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4A90D9"/>
                </a:solidFill>
                <a:latin typeface="微软雅黑"/>
              </a:rPr>
              <a:t>会话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645920"/>
            <a:ext cx="36576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55C5C"/>
                </a:solidFill>
                <a:latin typeface="微软雅黑"/>
              </a:rPr>
              <a:t>会话 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011680"/>
            <a:ext cx="457200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011680"/>
            <a:ext cx="457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t1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2011680"/>
            <a:ext cx="329184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039112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A90D9"/>
                </a:solidFill>
                <a:latin typeface="微软雅黑"/>
              </a:rPr>
              <a:t>BEGIN;</a:t>
            </a:r>
          </a:p>
          <a:p>
            <a:pPr algn="l"/>
            <a:r>
              <a:rPr sz="900" b="0">
                <a:solidFill>
                  <a:srgbClr val="4A90D9"/>
                </a:solidFill>
                <a:latin typeface="微软雅黑"/>
              </a:rPr>
              <a:t>UPDATE t_product</a:t>
            </a:r>
          </a:p>
          <a:p>
            <a:pPr algn="l"/>
            <a:r>
              <a:rPr sz="900" b="0">
                <a:solidFill>
                  <a:srgbClr val="4A90D9"/>
                </a:solidFill>
                <a:latin typeface="微软雅黑"/>
              </a:rPr>
              <a:t>SET stock=stock-1</a:t>
            </a:r>
          </a:p>
          <a:p>
            <a:pPr algn="l"/>
            <a:r>
              <a:rPr sz="900" b="0">
                <a:solidFill>
                  <a:srgbClr val="4A90D9"/>
                </a:solidFill>
                <a:latin typeface="微软雅黑"/>
              </a:rPr>
              <a:t>WHERE product_id=1;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2011680"/>
            <a:ext cx="329184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039112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E55C5C"/>
                </a:solidFill>
                <a:latin typeface="微软雅黑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2057400"/>
            <a:ext cx="4069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1B3A5C"/>
                </a:solidFill>
                <a:latin typeface="微软雅黑"/>
              </a:rPr>
              <a:t>① A锁定商品1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606040"/>
            <a:ext cx="457200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606040"/>
            <a:ext cx="457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t2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2606040"/>
            <a:ext cx="329184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2633472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A90D9"/>
                </a:solidFill>
                <a:latin typeface="微软雅黑"/>
              </a:rPr>
              <a:t>BEGIN;</a:t>
            </a:r>
          </a:p>
          <a:p>
            <a:pPr algn="l"/>
            <a:r>
              <a:rPr sz="900" b="0">
                <a:solidFill>
                  <a:srgbClr val="4A90D9"/>
                </a:solidFill>
                <a:latin typeface="微软雅黑"/>
              </a:rPr>
              <a:t>UPDATE t_product</a:t>
            </a:r>
          </a:p>
          <a:p>
            <a:pPr algn="l"/>
            <a:r>
              <a:rPr sz="900" b="0">
                <a:solidFill>
                  <a:srgbClr val="4A90D9"/>
                </a:solidFill>
                <a:latin typeface="微软雅黑"/>
              </a:rPr>
              <a:t>SET stock=stock-1</a:t>
            </a:r>
          </a:p>
          <a:p>
            <a:pPr algn="l"/>
            <a:r>
              <a:rPr sz="900" b="0">
                <a:solidFill>
                  <a:srgbClr val="4A90D9"/>
                </a:solidFill>
                <a:latin typeface="微软雅黑"/>
              </a:rPr>
              <a:t>WHERE product_id=2;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40" y="2606040"/>
            <a:ext cx="329184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0" y="2633472"/>
            <a:ext cx="4069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1B3A5C"/>
                </a:solidFill>
                <a:latin typeface="微软雅黑"/>
              </a:rPr>
              <a:t>② B锁定商品2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651760"/>
            <a:ext cx="3840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200400"/>
            <a:ext cx="457200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200400"/>
            <a:ext cx="457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t3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0" y="3200400"/>
            <a:ext cx="329184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3227832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A90D9"/>
                </a:solidFill>
                <a:latin typeface="微软雅黑"/>
              </a:rPr>
              <a:t>UPDATE t_product</a:t>
            </a:r>
          </a:p>
          <a:p>
            <a:pPr algn="l"/>
            <a:r>
              <a:rPr sz="900" b="0">
                <a:solidFill>
                  <a:srgbClr val="4A90D9"/>
                </a:solidFill>
                <a:latin typeface="微软雅黑"/>
              </a:rPr>
              <a:t>SET stock=stock-1</a:t>
            </a:r>
          </a:p>
          <a:p>
            <a:pPr algn="l"/>
            <a:r>
              <a:rPr sz="900" b="0">
                <a:solidFill>
                  <a:srgbClr val="4A90D9"/>
                </a:solidFill>
                <a:latin typeface="微软雅黑"/>
              </a:rPr>
              <a:t>WHERE product_id=2;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34840" y="3200400"/>
            <a:ext cx="329184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6280" y="3227832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E55C5C"/>
                </a:solidFill>
                <a:latin typeface="微软雅黑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3246120"/>
            <a:ext cx="4069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5A6A7A"/>
                </a:solidFill>
                <a:latin typeface="微软雅黑"/>
              </a:rPr>
              <a:t>③ A等B的锁</a:t>
            </a:r>
          </a:p>
          <a:p>
            <a:pPr algn="l"/>
            <a:r>
              <a:rPr sz="900" b="1">
                <a:solidFill>
                  <a:srgbClr val="E55C5C"/>
                </a:solidFill>
                <a:latin typeface="微软雅黑"/>
              </a:rPr>
              <a:t>（阻塞）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794760"/>
            <a:ext cx="457200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3794760"/>
            <a:ext cx="457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t4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5840" y="3794760"/>
            <a:ext cx="329184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3822192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A90D9"/>
                </a:solidFill>
                <a:latin typeface="微软雅黑"/>
              </a:rPr>
              <a:t/>
            </a:r>
          </a:p>
        </p:txBody>
      </p:sp>
      <p:sp>
        <p:nvSpPr>
          <p:cNvPr id="36" name="Rectangle 35"/>
          <p:cNvSpPr/>
          <p:nvPr/>
        </p:nvSpPr>
        <p:spPr>
          <a:xfrm>
            <a:off x="4434840" y="3794760"/>
            <a:ext cx="329184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26280" y="3822192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E55C5C"/>
                </a:solidFill>
                <a:latin typeface="微软雅黑"/>
              </a:rPr>
              <a:t>UPDATE t_product</a:t>
            </a:r>
          </a:p>
          <a:p>
            <a:pPr algn="l"/>
            <a:r>
              <a:rPr sz="900" b="0">
                <a:solidFill>
                  <a:srgbClr val="E55C5C"/>
                </a:solidFill>
                <a:latin typeface="微软雅黑"/>
              </a:rPr>
              <a:t>SET stock=stock-1</a:t>
            </a:r>
          </a:p>
          <a:p>
            <a:pPr algn="l"/>
            <a:r>
              <a:rPr sz="900" b="0">
                <a:solidFill>
                  <a:srgbClr val="E55C5C"/>
                </a:solidFill>
                <a:latin typeface="微软雅黑"/>
              </a:rPr>
              <a:t>WHERE product_id=1;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0" y="3840480"/>
            <a:ext cx="4069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E55C5C"/>
                </a:solidFill>
                <a:latin typeface="微软雅黑"/>
              </a:rPr>
              <a:t>④ 死锁!</a:t>
            </a:r>
          </a:p>
          <a:p>
            <a:pPr algn="l"/>
            <a:r>
              <a:rPr sz="900" b="1">
                <a:solidFill>
                  <a:srgbClr val="5A6A7A"/>
                </a:solidFill>
                <a:latin typeface="微软雅黑"/>
              </a:rPr>
              <a:t>B被回滚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452628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▍死锁日志解析（SHOW ENGINE INNODB STATUS）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4937760"/>
            <a:ext cx="11155680" cy="146304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5029200"/>
            <a:ext cx="1088136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*** (1) TRANSACTION 2576: HOLD product_id=2, WAIT product_id=1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*** (1) HOLDS: lock_data=product_id=2  WAITING: lock_data=product_id=1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*** (2) TRANSACTION 2575: HOLD product_id=1, WAIT product_id=2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*** (2) HOLDS: lock_data=product_id=1  WAITING: lock_data=product_id=2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*** WE ROLL BACK TRANSACTION (2)   -- MySQL检测到环，2575被回滚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05  事务死锁排查与调优 ②  根因分析与调优方案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"/>
            <a:ext cx="5" cy="1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"/>
            <a:ext cx="73152" cy="1"/>
          </a:xfrm>
          <a:prstGeom prst="rect">
            <a:avLst/>
          </a:prstGeom>
          <a:solidFill>
            <a:srgbClr val="E5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164593"/>
            <a:ext cx="-36575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根因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658369"/>
            <a:ext cx="-365754" cy="-7772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两个事务以「相反顺序」更新同一批商品行，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形成循环等待(wait-for环)：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A: lock(1)→lock(2)  B: lock(2)→lock(1)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InnoDB 检测到环后回滚代价小的一方。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" y="1"/>
            <a:ext cx="5" cy="1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" y="1"/>
            <a:ext cx="73152" cy="1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6" y="164593"/>
            <a:ext cx="-36575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影响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6" y="658369"/>
            <a:ext cx="-365754" cy="-7772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业务报错 ERROR 1213 (40001)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事务回滚 → 用户下单失败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高频死锁 → 连接堆积 → 雪崩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78892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▍调优方案（四层防御）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200400"/>
            <a:ext cx="2697480" cy="1828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200400"/>
            <a:ext cx="2697480" cy="50292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227832"/>
            <a:ext cx="2697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① 统一加锁顺序（核心）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794760"/>
            <a:ext cx="2423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所有扣库存按 product_id 升序加锁，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打破循环等待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3200400"/>
            <a:ext cx="2697480" cy="1828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83280" y="3200400"/>
            <a:ext cx="2697480" cy="50292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3227832"/>
            <a:ext cx="2697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② 原子操作 + 乐观重试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3794760"/>
            <a:ext cx="2423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单条 UPDATE 扣减，捕获 1213 错误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重试 2~3 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3200400"/>
            <a:ext cx="2697480" cy="1828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3200400"/>
            <a:ext cx="2697480" cy="50292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3227832"/>
            <a:ext cx="2697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③ 短事务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794760"/>
            <a:ext cx="2423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扣减与下单拆分，减少锁持有时间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0" y="3200400"/>
            <a:ext cx="2697480" cy="1828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44000" y="3200400"/>
            <a:ext cx="2697480" cy="50292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0" y="3227832"/>
            <a:ext cx="2697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④ 库存分桶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60" y="3794760"/>
            <a:ext cx="2423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热点商品拆为多行，降低单行争用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5212080"/>
            <a:ext cx="11155680" cy="11430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303520"/>
            <a:ext cx="10881360" cy="960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-- ✅ 调优后：批量扣减按 product_id 升序，统一加锁顺序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BEGIN;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UPDATE t_product SET stock=stock-1 WHERE product_id IN (1,2) ORDER BY product_id;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COMMIT;   -- 会话 A、B 均按此顺序，不再形成反向环 → 死锁降为 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06  锁等待排查与调优 ①  排查与应急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"/>
            <a:ext cx="5" cy="1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"/>
            <a:ext cx="73152" cy="1"/>
          </a:xfrm>
          <a:prstGeom prst="rect">
            <a:avLst/>
          </a:prstGeom>
          <a:solidFill>
            <a:srgbClr val="E5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164593"/>
            <a:ext cx="-36575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故障现象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658369"/>
            <a:ext cx="-365754" cy="-7772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后台批量改价长事务持有行锁，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前端下单更新同一商品被阻塞，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达到 innodb_lock_wait_timeout 后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报 ERROR 1205 超时。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" y="1"/>
            <a:ext cx="5" cy="1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" y="1"/>
            <a:ext cx="73152" cy="1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6" y="164593"/>
            <a:ext cx="-36575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排查三步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6" y="658369"/>
            <a:ext cx="-365754" cy="-7772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① INNODB_TRX 找持锁长事务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② INNODB_LOCK_WAITS 看谁等谁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③ PROCESSLIST 看会话状态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确认后 KILL 阻塞事务应急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69748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▍排查 SQL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108960"/>
            <a:ext cx="11155680" cy="22860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200400"/>
            <a:ext cx="10881360" cy="2103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-- 1) 找长事务（持锁最久）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SELECT trx_id, trx_state,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      TIMESTAMPDIFF(SECOND, trx_started, NOW()) AS hold_sec,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      trx_mysql_thread_id, LEFT(trx_query,80) AS query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FROM information_schema.INNODB_TRX ORDER BY trx_started;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结果：trx_id=2583, state=RUNNING, hold_sec=5s, thread=44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-- 2) 锁等待关系（MySQL 8.0 用 performance_schema）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SELECT * FROM performance_schema.data_lock_waits;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BLOCKING_TRX_ID / REQUESTING_TRX_ID 显示谁持锁谁等待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53212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55C5C"/>
                </a:solidFill>
                <a:latin typeface="微软雅黑"/>
              </a:rPr>
              <a:t>▍应急：确认安全后 KILL 阻塞线程释放锁    KILL &lt;blocking_thread&gt;;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06  锁等待排查与调优 ②  调优方案与根治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2697480" cy="17373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280160"/>
            <a:ext cx="2697480" cy="54864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07592"/>
            <a:ext cx="2697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① 长事务拆分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2423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批量改价分批提交，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每 500 条 commit 一次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1280160"/>
            <a:ext cx="2697480" cy="17373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280160"/>
            <a:ext cx="2697480" cy="54864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1307592"/>
            <a:ext cx="2697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② 避峰操作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1920240"/>
            <a:ext cx="2423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改价放低峰期执行，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避开下单高峰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280160"/>
            <a:ext cx="2697480" cy="17373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280160"/>
            <a:ext cx="2697480" cy="54864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307592"/>
            <a:ext cx="2697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③ 乐观锁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920240"/>
            <a:ext cx="2423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UPDATE ... WHERE version=old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冲突重试，减少行锁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280160"/>
            <a:ext cx="2697480" cy="17373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0" y="1280160"/>
            <a:ext cx="2697480" cy="5486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307592"/>
            <a:ext cx="2697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④ 快速失败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1920240"/>
            <a:ext cx="2423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lock_wait_timeout 调小，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业务侧 5s 超时 + 重试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24612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▍调优对比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657600"/>
            <a:ext cx="11155680" cy="13716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749040"/>
            <a:ext cx="10881360" cy="1188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✗ 调优前：长事务 BEGIN 后长时间不提交，持锁堆积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BEGIN;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UPDATE t_product SET price=price*1.1;  -- 全表改价，持锁数十秒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（迟迟不 COMMIT）→ 前端下单全部阻塞超时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✓ 调优后：分批提交 + 乐观锁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UPDATE t_product SET price=? WHERE product_id=? AND version=?;  -- 冲突重试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21208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▍长事务监控告警（&gt;5s 预警）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623560"/>
            <a:ext cx="11155680" cy="77724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715000"/>
            <a:ext cx="1088136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SELECT trx_id, trx_started,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      TIMESTAMPDIFF(SECOND, trx_started, NOW()) AS hold_sec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FROM information_schema.INNODB_TRX HAVING hold_sec &gt; 5;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07  主从延迟排查与调优 ①  状态排查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"/>
            <a:ext cx="5" cy="1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"/>
            <a:ext cx="73152" cy="1"/>
          </a:xfrm>
          <a:prstGeom prst="rect">
            <a:avLst/>
          </a:prstGeom>
          <a:solidFill>
            <a:srgbClr val="E5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164593"/>
            <a:ext cx="-36575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故障现象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658369"/>
            <a:ext cx="-365754" cy="-7772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大促下单写入激增，从库延迟飙升，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报表/订单查询读到旧数据，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Seconds_Behind_Master 达 120s+。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" y="1"/>
            <a:ext cx="5" cy="1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" y="1"/>
            <a:ext cx="73152" cy="1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6" y="164593"/>
            <a:ext cx="-36575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排查命令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6" y="658369"/>
            <a:ext cx="-365754" cy="-7772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SHOW REPLICA STATUS\G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关注：Replica_IO_Running / SQL_Running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     Seconds_Behind_Master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     位点差判断 IO延迟 vs SQL延迟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69748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▍延迟来源判断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108960"/>
            <a:ext cx="548640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00">
                <a:solidFill>
                  <a:srgbClr val="0F1B2D"/>
                </a:solidFill>
                <a:latin typeface="微软雅黑"/>
              </a:rPr>
              <a:t>• IO 延迟：网络/带宽不足，binlog 传输慢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000">
                <a:solidFill>
                  <a:srgbClr val="5A6A7A"/>
                </a:solidFill>
                <a:latin typeface="微软雅黑"/>
              </a:rPr>
              <a:t>    – Master_Log_File ≠ Relay_Master_Log_File → IO 落后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00">
                <a:solidFill>
                  <a:srgbClr val="0F1B2D"/>
                </a:solidFill>
                <a:latin typeface="微软雅黑"/>
              </a:rPr>
              <a:t>• SQL 延迟：从库单线程回放慢（最常见）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000">
                <a:solidFill>
                  <a:srgbClr val="5A6A7A"/>
                </a:solidFill>
                <a:latin typeface="微软雅黑"/>
              </a:rPr>
              <a:t>    – Read_Master_Log_Pos ≠ Exec_Master_Log_Pos → SQL 落后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697480"/>
            <a:ext cx="54864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▍关键字段解读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3108960"/>
            <a:ext cx="5394960" cy="18288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200400"/>
            <a:ext cx="5120640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Replica_IO_Running: Yes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Replica_SQL_Running: Yes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Seconds_Behind_Master: 120   ← 大促期间!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Master_Log_File: binlog.000003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Read_Master_Log_Pos: 987654321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Exec_Master_Log_Pos: 312000000   ← 落后67万位点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Last_Error: (复制错误信息)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IO延迟 vs SQL延迟判断: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Read ≠ Exec 位点差 → SQL回放落后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binlog_format=ROW 事务粒度细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07492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▍根因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486400"/>
            <a:ext cx="1115568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从库 SQL 线程单线程串行回放，跟不上主库并发写入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大事务（大批量 INSERT/DELETE）单事务回放耗时长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从库慢查询/锁占用资源，拖慢回放线程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07  主从延迟排查与调优 ②  多线程并行复制调优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▍核心方案：开启多线程并行复制（MTS, MySQL 8.0 LOGICAL_CLOCK）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45920"/>
            <a:ext cx="6583680" cy="246888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37360"/>
            <a:ext cx="6309360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STOP REPLICA;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并行回放：按逻辑时钟，主库组提交的事务可并行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SET GLOBAL replica_parallel_workers = 8;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SET GLOBAL replica_parallel_type = 'LOGICAL_CLOCK';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SET GLOBAL replica_pending_jobs_size_max = 134217728; -- 128MB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-- 8.0 更细粒度依赖追踪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SET GLOBAL binlog_transaction_dependency_tracking = 'WRITESET';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START REPLICA;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1188720"/>
            <a:ext cx="45720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▍配套措施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1645920"/>
            <a:ext cx="4389120" cy="2468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0F1B2D"/>
                </a:solidFill>
                <a:latin typeface="微软雅黑"/>
              </a:rPr>
              <a:t>• 主库大事务分批提交
（每 1000 行 commit）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0F1B2D"/>
                </a:solidFill>
                <a:latin typeface="微软雅黑"/>
              </a:rPr>
              <a:t>• 从库慢查询优化，让出 SQL 线程资源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0F1B2D"/>
                </a:solidFill>
                <a:latin typeface="微软雅黑"/>
              </a:rPr>
              <a:t>• 业务读写分离延迟感知：
下单后查订单走主库
报表走从库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0F1B2D"/>
                </a:solidFill>
                <a:latin typeface="微软雅黑"/>
              </a:rPr>
              <a:t>• 延迟超阈值自动切主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29768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▍调优效果对比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709160"/>
            <a:ext cx="10241280" cy="3657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709160"/>
            <a:ext cx="2926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对比项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4709160"/>
            <a:ext cx="3474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调优前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4709160"/>
            <a:ext cx="3840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调优后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093208"/>
            <a:ext cx="10241280" cy="3657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093208"/>
            <a:ext cx="2926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F1B2D"/>
                </a:solidFill>
                <a:latin typeface="微软雅黑"/>
              </a:rPr>
              <a:t>回放方式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5093208"/>
            <a:ext cx="3474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E55C5C"/>
                </a:solidFill>
                <a:latin typeface="微软雅黑"/>
              </a:rPr>
              <a:t>单线程串行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5093208"/>
            <a:ext cx="3840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4CAF50"/>
                </a:solidFill>
                <a:latin typeface="微软雅黑"/>
              </a:rPr>
              <a:t>8 线程并行(LOGICAL_CLOCK)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477256"/>
            <a:ext cx="102412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477256"/>
            <a:ext cx="2926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F1B2D"/>
                </a:solidFill>
                <a:latin typeface="微软雅黑"/>
              </a:rPr>
              <a:t>当前配置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5477256"/>
            <a:ext cx="3474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E55C5C"/>
                </a:solidFill>
                <a:latin typeface="微软雅黑"/>
              </a:rPr>
              <a:t>replica_parallel_workers=4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5477256"/>
            <a:ext cx="3840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4CAF50"/>
                </a:solidFill>
                <a:latin typeface="微软雅黑"/>
              </a:rPr>
              <a:t>replica_parallel_workers=8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861304"/>
            <a:ext cx="10241280" cy="3657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861304"/>
            <a:ext cx="2926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F1B2D"/>
                </a:solidFill>
                <a:latin typeface="微软雅黑"/>
              </a:rPr>
              <a:t>大事务回放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5861304"/>
            <a:ext cx="3474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E55C5C"/>
                </a:solidFill>
                <a:latin typeface="微软雅黑"/>
              </a:rPr>
              <a:t>整事务阻塞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5861304"/>
            <a:ext cx="3840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4CAF50"/>
                </a:solidFill>
                <a:latin typeface="微软雅黑"/>
              </a:rPr>
              <a:t>并行回放组提交事务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245352"/>
            <a:ext cx="102412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6245352"/>
            <a:ext cx="2926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F1B2D"/>
                </a:solidFill>
                <a:latin typeface="微软雅黑"/>
              </a:rPr>
              <a:t>Seconds_Behind_Master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29000" y="6245352"/>
            <a:ext cx="3474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E55C5C"/>
                </a:solidFill>
                <a:latin typeface="微软雅黑"/>
              </a:rPr>
              <a:t>120s+ (大促)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6245352"/>
            <a:ext cx="3840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4CAF50"/>
                </a:solidFill>
                <a:latin typeface="微软雅黑"/>
              </a:rPr>
              <a:t>&lt;5s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08  综合调优成果：整体性能升级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▍五大瓶颈调优前后对比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9692640" cy="4572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91640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故障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69164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调优前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169164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调优后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1691640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改善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194560"/>
            <a:ext cx="9692640" cy="4572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194560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微软雅黑"/>
              </a:rPr>
              <a:t>慢查询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219456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CAF50"/>
                </a:solidFill>
                <a:latin typeface="微软雅黑"/>
              </a:rPr>
              <a:t>rows=20 + 回表过滤</a:t>
            </a:r>
          </a:p>
          <a:p>
            <a:pPr algn="l"/>
            <a:r>
              <a:rPr sz="1000" b="1">
                <a:solidFill>
                  <a:srgbClr val="4CAF50"/>
                </a:solidFill>
                <a:latin typeface="微软雅黑"/>
              </a:rPr>
              <a:t>filesort 额外排序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19456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A33D"/>
                </a:solidFill>
                <a:latin typeface="微软雅黑"/>
              </a:rPr>
              <a:t>rows=3 索引覆盖</a:t>
            </a:r>
          </a:p>
          <a:p>
            <a:pPr algn="l"/>
            <a:r>
              <a:rPr sz="1100" b="1">
                <a:solidFill>
                  <a:srgbClr val="E8A33D"/>
                </a:solidFill>
                <a:latin typeface="微软雅黑"/>
              </a:rPr>
              <a:t>无回表无排序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2194560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B3A5C"/>
                </a:solidFill>
                <a:latin typeface="微软雅黑"/>
              </a:rPr>
              <a:t>扫描↓85%</a:t>
            </a:r>
          </a:p>
          <a:p>
            <a:pPr algn="l"/>
            <a:r>
              <a:rPr sz="1100" b="1">
                <a:solidFill>
                  <a:srgbClr val="1B3A5C"/>
                </a:solidFill>
                <a:latin typeface="微软雅黑"/>
              </a:rPr>
              <a:t>排序消除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697480"/>
            <a:ext cx="96926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697480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微软雅黑"/>
              </a:rPr>
              <a:t>索引异常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269748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A33D"/>
                </a:solidFill>
                <a:latin typeface="微软雅黑"/>
              </a:rPr>
              <a:t>6类失效</a:t>
            </a:r>
          </a:p>
          <a:p>
            <a:pPr algn="l"/>
            <a:r>
              <a:rPr sz="1100" b="1">
                <a:solidFill>
                  <a:srgbClr val="E8A33D"/>
                </a:solidFill>
                <a:latin typeface="微软雅黑"/>
              </a:rPr>
              <a:t>type=ALL 全表扫描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269748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B3A5C"/>
                </a:solidFill>
                <a:latin typeface="微软雅黑"/>
              </a:rPr>
              <a:t>全部命中索引</a:t>
            </a:r>
          </a:p>
          <a:p>
            <a:pPr algn="l"/>
            <a:r>
              <a:rPr sz="1100" b="1">
                <a:solidFill>
                  <a:srgbClr val="1B3A5C"/>
                </a:solidFill>
                <a:latin typeface="微软雅黑"/>
              </a:rPr>
              <a:t>type=ref/range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2697480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55C5C"/>
                </a:solidFill>
                <a:latin typeface="微软雅黑"/>
              </a:rPr>
              <a:t>全表扫描→</a:t>
            </a:r>
          </a:p>
          <a:p>
            <a:pPr algn="l"/>
            <a:r>
              <a:rPr sz="1000" b="1">
                <a:solidFill>
                  <a:srgbClr val="E55C5C"/>
                </a:solidFill>
                <a:latin typeface="微软雅黑"/>
              </a:rPr>
              <a:t>索引命中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200400"/>
            <a:ext cx="9692640" cy="4572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200400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微软雅黑"/>
              </a:rPr>
              <a:t>事务死锁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48840" y="320040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B3A5C"/>
                </a:solidFill>
                <a:latin typeface="微软雅黑"/>
              </a:rPr>
              <a:t>真实触发 AB-BA</a:t>
            </a:r>
          </a:p>
          <a:p>
            <a:pPr algn="l"/>
            <a:r>
              <a:rPr sz="1100" b="1">
                <a:solidFill>
                  <a:srgbClr val="1B3A5C"/>
                </a:solidFill>
                <a:latin typeface="微软雅黑"/>
              </a:rPr>
              <a:t>ERROR 1213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320040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55C5C"/>
                </a:solidFill>
                <a:latin typeface="微软雅黑"/>
              </a:rPr>
              <a:t>统一加锁顺序</a:t>
            </a:r>
          </a:p>
          <a:p>
            <a:pPr algn="l"/>
            <a:r>
              <a:rPr sz="1000" b="1">
                <a:solidFill>
                  <a:srgbClr val="E55C5C"/>
                </a:solidFill>
                <a:latin typeface="微软雅黑"/>
              </a:rPr>
              <a:t>死锁 = 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3200400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CAF50"/>
                </a:solidFill>
                <a:latin typeface="微软雅黑"/>
              </a:rPr>
              <a:t>根除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703320"/>
            <a:ext cx="96926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3703320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微软雅黑"/>
              </a:rPr>
              <a:t>锁等待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48840" y="370332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55C5C"/>
                </a:solidFill>
                <a:latin typeface="微软雅黑"/>
              </a:rPr>
              <a:t>真实触发</a:t>
            </a:r>
          </a:p>
          <a:p>
            <a:pPr algn="l"/>
            <a:r>
              <a:rPr sz="1000" b="1">
                <a:solidFill>
                  <a:srgbClr val="E55C5C"/>
                </a:solidFill>
                <a:latin typeface="微软雅黑"/>
              </a:rPr>
              <a:t>ERROR 1205 超时5s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9240" y="370332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CAF50"/>
                </a:solidFill>
                <a:latin typeface="微软雅黑"/>
              </a:rPr>
              <a:t>分批提交+乐观锁</a:t>
            </a:r>
          </a:p>
          <a:p>
            <a:pPr algn="l"/>
            <a:r>
              <a:rPr sz="1000" b="1">
                <a:solidFill>
                  <a:srgbClr val="4CAF50"/>
                </a:solidFill>
                <a:latin typeface="微软雅黑"/>
              </a:rPr>
              <a:t>快速失败+重试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3703320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A33D"/>
                </a:solidFill>
                <a:latin typeface="微软雅黑"/>
              </a:rPr>
              <a:t>超时堆积→</a:t>
            </a:r>
          </a:p>
          <a:p>
            <a:pPr algn="l"/>
            <a:r>
              <a:rPr sz="1100" b="1">
                <a:solidFill>
                  <a:srgbClr val="E8A33D"/>
                </a:solidFill>
                <a:latin typeface="微软雅黑"/>
              </a:rPr>
              <a:t>秒级失败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206240"/>
            <a:ext cx="9692640" cy="4572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4206240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微软雅黑"/>
              </a:rPr>
              <a:t>主从延迟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48840" y="420624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CAF50"/>
                </a:solidFill>
                <a:latin typeface="微软雅黑"/>
              </a:rPr>
              <a:t>单线程回放</a:t>
            </a:r>
          </a:p>
          <a:p>
            <a:pPr algn="l"/>
            <a:r>
              <a:rPr sz="1000" b="1">
                <a:solidFill>
                  <a:srgbClr val="4CAF50"/>
                </a:solidFill>
                <a:latin typeface="微软雅黑"/>
              </a:rPr>
              <a:t>大促延迟120s+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49240" y="420624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A33D"/>
                </a:solidFill>
                <a:latin typeface="微软雅黑"/>
              </a:rPr>
              <a:t>8线程并行复制</a:t>
            </a:r>
          </a:p>
          <a:p>
            <a:pPr algn="l"/>
            <a:r>
              <a:rPr sz="1100" b="1">
                <a:solidFill>
                  <a:srgbClr val="E8A33D"/>
                </a:solidFill>
                <a:latin typeface="微软雅黑"/>
              </a:rPr>
              <a:t>LOGICAL_CLOCK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49640" y="4206240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B3A5C"/>
                </a:solidFill>
                <a:latin typeface="微软雅黑"/>
              </a:rPr>
              <a:t>120s→&lt;5s</a:t>
            </a:r>
          </a:p>
          <a:p>
            <a:pPr algn="l"/>
            <a:r>
              <a:rPr sz="1100" b="1">
                <a:solidFill>
                  <a:srgbClr val="1B3A5C"/>
                </a:solidFill>
                <a:latin typeface="微软雅黑"/>
              </a:rPr>
              <a:t>↓96%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4160" y="1691640"/>
            <a:ext cx="1280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整体收益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424160" y="2194560"/>
            <a:ext cx="1280160" cy="4572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424160" y="2194560"/>
            <a:ext cx="54864" cy="45720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0" y="2194560"/>
            <a:ext cx="1143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4CAF50"/>
                </a:solidFill>
                <a:latin typeface="微软雅黑"/>
              </a:rPr>
              <a:t>死锁=0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424160" y="2697480"/>
            <a:ext cx="1280160" cy="4572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424160" y="2697480"/>
            <a:ext cx="54864" cy="4572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15600" y="2697480"/>
            <a:ext cx="1143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4CAF50"/>
                </a:solidFill>
                <a:latin typeface="微软雅黑"/>
              </a:rPr>
              <a:t>rows 20→3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424160" y="3200400"/>
            <a:ext cx="1280160" cy="4572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424160" y="3200400"/>
            <a:ext cx="54864" cy="4572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515600" y="3200400"/>
            <a:ext cx="1143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4CAF50"/>
                </a:solidFill>
                <a:latin typeface="微软雅黑"/>
              </a:rPr>
              <a:t>ERROR 1205</a:t>
            </a:r>
          </a:p>
          <a:p>
            <a:pPr algn="l"/>
            <a:r>
              <a:rPr sz="900" b="1">
                <a:solidFill>
                  <a:srgbClr val="4CAF50"/>
                </a:solidFill>
                <a:latin typeface="微软雅黑"/>
              </a:rPr>
              <a:t>已消除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424160" y="3703320"/>
            <a:ext cx="1280160" cy="4572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424160" y="3703320"/>
            <a:ext cx="54864" cy="4572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515600" y="3703320"/>
            <a:ext cx="1143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4CAF50"/>
                </a:solidFill>
                <a:latin typeface="微软雅黑"/>
              </a:rPr>
              <a:t>延迟↓96%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493776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▍全链路调优闭环：监控 → 定位 → 分析 → 调优 → 验证 → 沉淀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2960" y="5394960"/>
            <a:ext cx="1554480" cy="54864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60" y="5394960"/>
            <a:ext cx="1554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监控告警</a:t>
            </a:r>
          </a:p>
        </p:txBody>
      </p:sp>
      <p:sp>
        <p:nvSpPr>
          <p:cNvPr id="55" name="Right Arrow 54"/>
          <p:cNvSpPr/>
          <p:nvPr/>
        </p:nvSpPr>
        <p:spPr>
          <a:xfrm>
            <a:off x="2395728" y="5532120"/>
            <a:ext cx="164592" cy="274320"/>
          </a:xfrm>
          <a:prstGeom prst="rightArrow">
            <a:avLst/>
          </a:prstGeom>
          <a:solidFill>
            <a:srgbClr val="5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743200" y="5394960"/>
            <a:ext cx="1554480" cy="5486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43200" y="5394960"/>
            <a:ext cx="1554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现象定位</a:t>
            </a:r>
          </a:p>
        </p:txBody>
      </p:sp>
      <p:sp>
        <p:nvSpPr>
          <p:cNvPr id="58" name="Right Arrow 57"/>
          <p:cNvSpPr/>
          <p:nvPr/>
        </p:nvSpPr>
        <p:spPr>
          <a:xfrm>
            <a:off x="4315968" y="5532120"/>
            <a:ext cx="164592" cy="274320"/>
          </a:xfrm>
          <a:prstGeom prst="rightArrow">
            <a:avLst/>
          </a:prstGeom>
          <a:solidFill>
            <a:srgbClr val="5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663440" y="5394960"/>
            <a:ext cx="1554480" cy="548640"/>
          </a:xfrm>
          <a:prstGeom prst="rect">
            <a:avLst/>
          </a:prstGeom>
          <a:solidFill>
            <a:srgbClr val="E5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663440" y="5394960"/>
            <a:ext cx="1554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根因分析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6236208" y="5532120"/>
            <a:ext cx="164592" cy="274320"/>
          </a:xfrm>
          <a:prstGeom prst="rightArrow">
            <a:avLst/>
          </a:prstGeom>
          <a:solidFill>
            <a:srgbClr val="5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583680" y="5394960"/>
            <a:ext cx="1554480" cy="54864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83680" y="5394960"/>
            <a:ext cx="1554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方案调优</a:t>
            </a:r>
          </a:p>
        </p:txBody>
      </p:sp>
      <p:sp>
        <p:nvSpPr>
          <p:cNvPr id="64" name="Right Arrow 63"/>
          <p:cNvSpPr/>
          <p:nvPr/>
        </p:nvSpPr>
        <p:spPr>
          <a:xfrm>
            <a:off x="8156448" y="5532120"/>
            <a:ext cx="164592" cy="274320"/>
          </a:xfrm>
          <a:prstGeom prst="rightArrow">
            <a:avLst/>
          </a:prstGeom>
          <a:solidFill>
            <a:srgbClr val="5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503920" y="5394960"/>
            <a:ext cx="1554480" cy="54864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503920" y="5394960"/>
            <a:ext cx="1554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效果验证</a:t>
            </a:r>
          </a:p>
        </p:txBody>
      </p:sp>
      <p:sp>
        <p:nvSpPr>
          <p:cNvPr id="67" name="Right Arrow 66"/>
          <p:cNvSpPr/>
          <p:nvPr/>
        </p:nvSpPr>
        <p:spPr>
          <a:xfrm>
            <a:off x="10076688" y="5532120"/>
            <a:ext cx="164592" cy="274320"/>
          </a:xfrm>
          <a:prstGeom prst="rightArrow">
            <a:avLst/>
          </a:prstGeom>
          <a:solidFill>
            <a:srgbClr val="5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424160" y="5394960"/>
            <a:ext cx="1554480" cy="54864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424160" y="5394960"/>
            <a:ext cx="1554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经验沉淀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经验总结与展望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54864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▍核心经验沉淀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45920"/>
            <a:ext cx="566928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慢查询：EXPLAIN 是第一利器，关注 type/rows/Extra 三要素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索引：遵循最左前缀 + 覆盖索引，警惕 6 类失效写法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死锁：统一加锁顺序是治本，重试是兜底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锁等待：长事务是万恶之源，拆分 + 乐观锁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主从延迟：单线程回放是瓶颈，多线程并行复制解之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共性：监控先行，定位证据，根因分析，验证闭环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188720"/>
            <a:ext cx="530352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▍课程知识点整合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645920"/>
            <a:ext cx="5257800" cy="685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645920"/>
            <a:ext cx="73152" cy="6858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719072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3A5C"/>
                </a:solidFill>
                <a:latin typeface="微软雅黑"/>
              </a:rPr>
              <a:t>索引原理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02996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B+树 / 回表 / 覆盖索引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423160"/>
            <a:ext cx="5257800" cy="685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2423160"/>
            <a:ext cx="73152" cy="6858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2496312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3A5C"/>
                </a:solidFill>
                <a:latin typeface="微软雅黑"/>
              </a:rPr>
              <a:t>执行计划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80720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EXPLAIN / type / Extra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200400"/>
            <a:ext cx="5257800" cy="685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3200400"/>
            <a:ext cx="73152" cy="685800"/>
          </a:xfrm>
          <a:prstGeom prst="rect">
            <a:avLst/>
          </a:prstGeom>
          <a:solidFill>
            <a:srgbClr val="E5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3273552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3A5C"/>
                </a:solidFill>
                <a:latin typeface="微软雅黑"/>
              </a:rPr>
              <a:t>事务与锁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58444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ACID / 行锁 / 间隙锁 / 死锁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3977639"/>
            <a:ext cx="5257800" cy="685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3977639"/>
            <a:ext cx="73152" cy="6858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4050791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3A5C"/>
                </a:solidFill>
                <a:latin typeface="微软雅黑"/>
              </a:rPr>
              <a:t>复制架构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436168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binlog / relaylog / GTID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4754880"/>
            <a:ext cx="5257800" cy="685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0" y="4754880"/>
            <a:ext cx="73152" cy="68580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4828032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3A5C"/>
                </a:solidFill>
                <a:latin typeface="微软雅黑"/>
              </a:rPr>
              <a:t>性能调优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513892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慢日志 / 并行复制 / 读写分离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852160"/>
            <a:ext cx="1115568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A33D"/>
                </a:solidFill>
                <a:latin typeface="微软雅黑"/>
              </a:rPr>
              <a:t>▍展望：向「可观测 + 自动化」演进 —— 慢SQL自动索引建议、智能巡检、AIOps 异常预测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8800" y="1645920"/>
            <a:ext cx="182880" cy="18288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194560" y="2011680"/>
            <a:ext cx="109728" cy="109728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0" y="4937760"/>
            <a:ext cx="182880" cy="18288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0" y="4572000"/>
            <a:ext cx="109728" cy="109728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0" b="1">
                <a:solidFill>
                  <a:srgbClr val="FFFFFF"/>
                </a:solidFill>
                <a:latin typeface="微软雅黑"/>
              </a:rPr>
              <a:t>THANK YOU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3520440"/>
            <a:ext cx="2286000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49039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E8A33D"/>
                </a:solidFill>
                <a:latin typeface="微软雅黑"/>
              </a:rPr>
              <a:t>感谢聆听  ·  欢迎提问与交流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9AB0C8"/>
                </a:solidFill>
                <a:latin typeface="微软雅黑"/>
              </a:rPr>
              <a:t>全链路性能瓶颈排查与综合调优  |  数据库优化与应用 期末作业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0352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A809A"/>
                </a:solidFill>
                <a:latin typeface="微软雅黑"/>
              </a:rPr>
              <a:t>演示材料：scripts/ 下含建表、造数、故障模拟、调优对比全套脚本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
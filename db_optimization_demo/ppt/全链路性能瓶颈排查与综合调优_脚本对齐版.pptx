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1280160"/>
            <a:ext cx="219456" cy="21945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1645920"/>
            <a:ext cx="128016" cy="128016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828800"/>
            <a:ext cx="91440" cy="9144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5120640"/>
            <a:ext cx="164592" cy="164592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A33D"/>
                </a:solidFill>
                <a:latin typeface="微软雅黑"/>
              </a:rPr>
              <a:t>数据库优化与应用 · 期末作业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全链路性能瓶颈排查</a:t>
            </a:r>
          </a:p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与综合调优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34840"/>
            <a:ext cx="228600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8D4E6"/>
                </a:solidFill>
                <a:latin typeface="微软雅黑"/>
              </a:rPr>
              <a:t>9 个 SQL 脚本真实执行：建表→造数→慢查询→索引异常→死锁→锁等待→主从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B0C8"/>
                </a:solidFill>
                <a:latin typeface="微软雅黑"/>
              </a:rPr>
              <a:t>MySQL 8.0 · InnoDB · 5万用户/100万订单/128万明细 · 汇报约 10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1990527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目录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120640" cy="960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914400" cy="9601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914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0876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脚本架构与数据准备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3852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Consolas"/>
              </a:rPr>
              <a:t>01_schema + 02_init_data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371600"/>
            <a:ext cx="5120640" cy="960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371600"/>
            <a:ext cx="914400" cy="9601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371600"/>
            <a:ext cx="914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39" y="150876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第0幕 环境核对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39" y="193852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Consolas"/>
              </a:rPr>
              <a:t>demo.sql · 真实数据量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606040"/>
            <a:ext cx="5120640" cy="960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606040"/>
            <a:ext cx="914400" cy="9601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06040"/>
            <a:ext cx="914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74320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第1幕 慢查询调优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17296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Consolas"/>
              </a:rPr>
              <a:t>demo.sql · EXPLAIN对比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606040"/>
            <a:ext cx="5120640" cy="960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606040"/>
            <a:ext cx="914400" cy="9601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606040"/>
            <a:ext cx="914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39" y="274320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第2幕 索引异常6类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39" y="317296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Consolas"/>
              </a:rPr>
              <a:t>demo.sql · 6场景改写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840480"/>
            <a:ext cx="5120640" cy="960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840480"/>
            <a:ext cx="914400" cy="9601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914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397764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第3幕 主从延迟配置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40740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Consolas"/>
              </a:rPr>
              <a:t>demo.sql · MTS参数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3840480"/>
            <a:ext cx="5120640" cy="960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3840480"/>
            <a:ext cx="914400" cy="96012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3840480"/>
            <a:ext cx="914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39" y="397764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第4幕 事务死锁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39" y="440740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Consolas"/>
              </a:rPr>
              <a:t>deadlock_session_a/b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074920"/>
            <a:ext cx="5120640" cy="960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5074920"/>
            <a:ext cx="914400" cy="9601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074920"/>
            <a:ext cx="914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21208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第5幕 锁等待超时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64184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Consolas"/>
              </a:rPr>
              <a:t>lock_wait_session_a/b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59" y="5074920"/>
            <a:ext cx="5120640" cy="960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59" y="5074920"/>
            <a:ext cx="914400" cy="9601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5074920"/>
            <a:ext cx="914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39" y="521208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综合成果与脚本清单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39" y="564184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Consolas"/>
              </a:rPr>
              <a:t>9个SQL脚本对照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 | 数据来源：9个SQL脚本真实执行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1990527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01  脚本架构与数据准备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A7A"/>
                </a:solidFill>
                <a:latin typeface="微软雅黑"/>
              </a:rPr>
              <a:t>9 个 SQL 脚本覆盖建表→造数→5 幕演示，全程在 mysql cmd 用 source 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▍脚本执行流程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2926080" cy="3840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3969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onsolas"/>
              </a:rPr>
              <a:t>01_schema.sql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3969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5张表 + 慢查询/死锁参数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874519" y="2487168"/>
            <a:ext cx="182880" cy="109728"/>
          </a:xfrm>
          <a:prstGeom prst="down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06039"/>
            <a:ext cx="2926080" cy="38404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42615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onsolas"/>
              </a:rPr>
              <a:t>02_init_data.sql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42615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数字辅助表倍增法造数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874519" y="2990087"/>
            <a:ext cx="182880" cy="109728"/>
          </a:xfrm>
          <a:prstGeom prst="down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108960"/>
            <a:ext cx="2926080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14553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onsolas"/>
              </a:rPr>
              <a:t>demo.sql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14553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第0-3幕主演示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874519" y="3493008"/>
            <a:ext cx="182880" cy="109728"/>
          </a:xfrm>
          <a:prstGeom prst="down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11880"/>
            <a:ext cx="2926080" cy="384048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4845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onsolas"/>
              </a:rPr>
              <a:t>deadlock_session_a/b.sql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64845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第4幕 死锁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874519" y="3995928"/>
            <a:ext cx="182880" cy="109728"/>
          </a:xfrm>
          <a:prstGeom prst="down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114800"/>
            <a:ext cx="2926080" cy="3840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15137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onsolas"/>
              </a:rPr>
              <a:t>lock_wait_session_a/b.sql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15137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第5幕 锁等待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▍5 张核心表（01_schema.sql）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103120"/>
            <a:ext cx="219456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139696"/>
            <a:ext cx="2103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t_user 用户表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2103120"/>
            <a:ext cx="329184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32520" y="2139696"/>
            <a:ext cx="3108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Consolas"/>
              </a:rPr>
              <a:t>user_id, username, phone, city, created_at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606039"/>
            <a:ext cx="2194560" cy="38404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642615"/>
            <a:ext cx="2103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t_product 商品表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2606039"/>
            <a:ext cx="329184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2642615"/>
            <a:ext cx="3108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Consolas"/>
              </a:rPr>
              <a:t>product_id, product_name, category_id, price, stock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108960"/>
            <a:ext cx="219456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145536"/>
            <a:ext cx="2103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t_order 订单主表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60" y="3108960"/>
            <a:ext cx="329184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3145536"/>
            <a:ext cx="3108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Consolas"/>
              </a:rPr>
              <a:t>order_id, order_no, user_id, status, total_amount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611880"/>
            <a:ext cx="2194560" cy="38404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3648456"/>
            <a:ext cx="2103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t_order_item 订单明细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3611880"/>
            <a:ext cx="329184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3648456"/>
            <a:ext cx="3108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Consolas"/>
              </a:rPr>
              <a:t>item_id, order_id, product_id, quantity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114800"/>
            <a:ext cx="219456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4151376"/>
            <a:ext cx="2103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t_inventory_log 库存日志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4114800"/>
            <a:ext cx="329184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32520" y="4151376"/>
            <a:ext cx="3108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Consolas"/>
              </a:rPr>
              <a:t>id, product_id, delta, order_no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846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▍真实造数结果（02_init_data.sql）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230368"/>
            <a:ext cx="2377440" cy="256032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5248656"/>
            <a:ext cx="2240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来源 02_init_data.sql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577840"/>
            <a:ext cx="1133856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用户 50,000 行  |  商品 9,904 行  |  订单 996,896 行  |  明细 1,280,664 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数字辅助表 _nums 倍增法：10→20→40→...→1,000,000 精确 100 万行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订单分 4 批每批 25 万 INSERT...SELECT，约 30 秒完成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慢查询参数：slow_query_log=ON, long_query_time=1, innodb_lock_wait_timeout=10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 | 数据来源：9个SQL脚本真实执行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1990527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02  第0幕 · 环境核对（demo.sql）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377440" cy="256032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161288"/>
            <a:ext cx="2240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来源 demo.sql 第0幕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A7A"/>
                </a:solidFill>
                <a:latin typeface="微软雅黑"/>
              </a:rPr>
              <a:t>现场执行 source demo.sql，第0幕输出真实数据量与表大小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1088136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表名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92024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真实行数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2024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data_mb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92024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idx_mb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92024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说明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04288"/>
            <a:ext cx="1088136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304288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t_user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30428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50,000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30428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30428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30428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5万用户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670048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670048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t_product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67004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9,904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67004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67004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67004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1万商品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035808"/>
            <a:ext cx="1088136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035808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t_order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03580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996,896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03580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≈160MB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03580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≈10MB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03580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100万订单主表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401568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401568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t_order_item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40156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1,280,664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40156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≈120MB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40156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≈20MB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340156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128万明细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767328"/>
            <a:ext cx="1088136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767328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t_inventory_log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376732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376732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76732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376732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演示前为空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297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▍建表时的初始索引（01_schema.sql 故意保留未优化项）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663440"/>
            <a:ext cx="2377440" cy="256032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" y="4681728"/>
            <a:ext cx="2240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来源 01_schema.sql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983480"/>
            <a:ext cx="113385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t_order 仅有 idx_user(user_id) 单列索引 → 演示慢查询回表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t_order.order_no 未建唯一索引 → 演示隐式转换索引失效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t_product 仅有 idx_category → 演示 LIKE 左模糊全表扫描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缺少 (user_id, status, created_at) 复合索引 → 演示调优建索引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 | 数据来源：9个SQL脚本真实执行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1990527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第1幕 · 慢查询调优（demo.sql）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377440" cy="256032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161288"/>
            <a:ext cx="2240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来源 demo.sql 第1幕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A7A"/>
                </a:solidFill>
                <a:latin typeface="微软雅黑"/>
              </a:rPr>
              <a:t>故障 SQL：客服后台查某用户近30天已支付订单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11247120" cy="9144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order_id, order_no, total_amount, status, pay_time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t_order USE INDEX()           -- 调优前：强制不用索引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user_id = 12345 AND status = 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&gt;= DATE_SUB(NOW(), INTERVAL 30 DAY)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ORDER BY created_at DESC LIMIT 20;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▍调优前 EXPLAIN（全表扫描）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46120"/>
            <a:ext cx="5486400" cy="384048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字段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24612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30168"/>
            <a:ext cx="5486400" cy="31089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30168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630168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59352"/>
            <a:ext cx="54864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59352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959352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NULL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88536"/>
            <a:ext cx="5486400" cy="31089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8853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28853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994,910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17720"/>
            <a:ext cx="54864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61772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Extra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61772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Using where; Using filesort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880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CAF50"/>
                </a:solidFill>
                <a:latin typeface="微软雅黑"/>
              </a:rPr>
              <a:t>▍调优后 EXPLAIN（复合索引）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246120"/>
            <a:ext cx="5486400" cy="38404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24612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字段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24612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630168"/>
            <a:ext cx="5486400" cy="31089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630168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630168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range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959352"/>
            <a:ext cx="54864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959352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key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3959352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idx_user_status_created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288536"/>
            <a:ext cx="5486400" cy="31089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28853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rows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28853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617720"/>
            <a:ext cx="54864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61772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Extra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461772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Using index condition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074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▍现场调优命令（demo.sql 第1.2节）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440680"/>
            <a:ext cx="11247120" cy="1005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532120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现场建复合索引（等值在前、范围在后）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ALTER TABLE t_order ADD INDEX idx_demo (user_id, status, created_at);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重新 EXPLAIN 看效果 → type=range, rows=1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删索引看退化 → type=ALL, rows=994910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ALTER TABLE t_order DROP INDEX idx_demo;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BENCHMARK(50,...) 各跑50次，调优前耗时显著更长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 | 数据来源：9个SQL脚本真实执行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1990527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第1幕 · 慢查询调优效果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377440" cy="256032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161288"/>
            <a:ext cx="2240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来源 demo.sql 第1.3节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A7A"/>
                </a:solidFill>
                <a:latin typeface="微软雅黑"/>
              </a:rPr>
              <a:t>实测对比（BENCHMARK 50 次 + 真实采样）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548640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920240"/>
            <a:ext cx="5486400" cy="45720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调优前（无索引）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68880"/>
            <a:ext cx="5486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E55C5C"/>
                </a:solidFill>
                <a:latin typeface="微软雅黑"/>
              </a:rPr>
              <a:t>420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3756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A6A7A"/>
                </a:solidFill>
                <a:latin typeface="微软雅黑"/>
              </a:rPr>
              <a:t>type=ALL  key=NULL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A6A7A"/>
                </a:solidFill>
                <a:latin typeface="微软雅黑"/>
              </a:rPr>
              <a:t>扫描 994,910 行 + Using filesort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20240"/>
            <a:ext cx="548640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920240"/>
            <a:ext cx="5486400" cy="4572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92024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调优后（复合索引）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68880"/>
            <a:ext cx="5486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4CAF50"/>
                </a:solidFill>
                <a:latin typeface="微软雅黑"/>
              </a:rPr>
              <a:t>0.46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33756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A6A7A"/>
                </a:solidFill>
                <a:latin typeface="微软雅黑"/>
              </a:rPr>
              <a:t>type=range  key=idx_user_status_created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A6A7A"/>
                </a:solidFill>
                <a:latin typeface="微软雅黑"/>
              </a:rPr>
              <a:t>扫描 1 行 + Using index condition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89320" y="2697480"/>
            <a:ext cx="274320" cy="4572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97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▍核心收益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63440"/>
            <a:ext cx="1133856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0F1B2D"/>
                </a:solidFill>
                <a:latin typeface="微软雅黑"/>
              </a:rPr>
              <a:t>• 扫描行数：994,910 → 1   （下降 99.9999%）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0F1B2D"/>
                </a:solidFill>
                <a:latin typeface="微软雅黑"/>
              </a:rPr>
              <a:t>• 查询耗时：420 ms → 0.46 ms   （提速 913 倍）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0F1B2D"/>
                </a:solidFill>
                <a:latin typeface="微软雅黑"/>
              </a:rPr>
              <a:t>• filesort 消除：Using filesort → Using index condition（无需额外排序）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0F1B2D"/>
                </a:solidFill>
                <a:latin typeface="微软雅黑"/>
              </a:rPr>
              <a:t>• 回表消除：从逐行回表过滤 → 索引覆盖直接命中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 | 数据来源：9个SQL脚本真实执行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1990527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第2幕 · 索引异常六大失效场景（demo.sql）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377440" cy="256032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161288"/>
            <a:ext cx="2240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来源 demo.sql 第2幕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A7A"/>
                </a:solidFill>
                <a:latin typeface="微软雅黑"/>
              </a:rPr>
              <a:t>6 类失效场景均有 ✗ 失效 / ✓ 命中 真实 EXPLAIN 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3611880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920240"/>
            <a:ext cx="361188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3429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2.1 隐式类型转换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Consolas"/>
              </a:rPr>
              <a:t>order_no VARCHAR 传数字 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Consolas"/>
              </a:rPr>
              <a:t>✗ ALL/NULL/996896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918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Consolas"/>
              </a:rPr>
              <a:t>✓ const/uk_order_no/1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920240"/>
            <a:ext cx="3611880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920240"/>
            <a:ext cx="361188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965960"/>
            <a:ext cx="3429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2.2 函数作用于列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37744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Consolas"/>
              </a:rPr>
              <a:t>LEFT(order_no,13) = 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78892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Consolas"/>
              </a:rPr>
              <a:t>✗ ALL/NULL/996896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2918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Consolas"/>
              </a:rPr>
              <a:t>✓ range/uk_order_no/10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920240"/>
            <a:ext cx="3611880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920240"/>
            <a:ext cx="361188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1965960"/>
            <a:ext cx="3429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2.3 LIKE 左模糊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7744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Consolas"/>
              </a:rPr>
              <a:t>product_name LIKE '%关键词%'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78892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Consolas"/>
              </a:rPr>
              <a:t>✗ ALL/NULL/9904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2918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Consolas"/>
              </a:rPr>
              <a:t>✓ range/idx_product_name/100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069080"/>
            <a:ext cx="3611880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069080"/>
            <a:ext cx="361188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114800"/>
            <a:ext cx="3429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2.4 违反最左前缀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2628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Consolas"/>
              </a:rPr>
              <a:t>复合索引跳过 user_id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Consolas"/>
              </a:rPr>
              <a:t>✗ ALL/NULL/996896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Consolas"/>
              </a:rPr>
              <a:t>✓ range/idx_user_status_created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4069080"/>
            <a:ext cx="3611880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4069080"/>
            <a:ext cx="361188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4114800"/>
            <a:ext cx="3429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2.5 OR 连接非索引列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52628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Consolas"/>
              </a:rPr>
              <a:t>user_id=1 OR total_amount&gt;9000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Consolas"/>
              </a:rPr>
              <a:t>✗ ALL/NULL/996896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44068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Consolas"/>
              </a:rPr>
              <a:t>✓ UNION ALL 各自走索引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4069080"/>
            <a:ext cx="3611880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92440" y="4069080"/>
            <a:ext cx="361188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4114800"/>
            <a:ext cx="3429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2.6 不等于 / NOT 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52628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Consolas"/>
              </a:rPr>
              <a:t>user_id != 12345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Consolas"/>
              </a:rPr>
              <a:t>✗ ALL/NULL/996896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544068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Consolas"/>
              </a:rPr>
              <a:t>✓ IN 明确列表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263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Consolas"/>
              </a:rPr>
              <a:t>第2.7节：performance_schema 检测冗余索引（COUNT_READ=0 的可清理）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 | 数据来源：9个SQL脚本真实执行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1990527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第2幕 · 索引异常改写演示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377440" cy="256032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161288"/>
            <a:ext cx="2240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来源 demo.sql 第2.1节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▍隐式类型转换（2.1）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486400" cy="2011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2120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失效：order_no 为 VARCHAR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传数字字面量 → 隐式转换 → 索引失效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order_no = 123;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type=ALL  key=NULL  rows=996896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命中：传字符串字面量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order_no = 'NO000000000123';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type=const  key=uk_order_no  rows=1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463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▍函数作用于列（2.2）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5486400" cy="2011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2120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失效：LEFT() 函数作用于索引列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LEFT(order_no,13) = 'NO00000000012';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type=ALL  key=NULL  rows=996896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命中：改写为 LIKE 前缀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order_no LIKE 'NO00000000012%';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type=range  key=uk_order_no  rows=10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23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▍违反最左前缀（2.4）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89120"/>
            <a:ext cx="5486400" cy="2011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52120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失效：复合索引跳过最左列 user_id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status = 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&gt; '2025-01-01';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type=ALL  key=NULL  rows=996896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命中：带最左列 user_id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user_id = 12345 AND status = 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&gt; '2025-01-01';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type=range  key=idx_user_status_created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023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90D9"/>
                </a:solidFill>
                <a:latin typeface="微软雅黑"/>
              </a:rPr>
              <a:t>▍冗余索引检测（2.7）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389120"/>
            <a:ext cx="5486400" cy="2011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52120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查询各索引被读取次数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object_name AS tbl,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index_name,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COUNT_READ AS read_cnt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performance_schema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.table_io_waits_summary_by_index_usage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object_schema='shop_demo'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index_name IS NOT NULL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ORDER BY COUNT_READ ASC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LIMIT 10;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read_cnt=0 的索引为冗余，可清理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 | 数据来源：9个SQL脚本真实执行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1990527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05  第3幕 · 主从延迟调优参数（demo.sql）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377440" cy="256032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161288"/>
            <a:ext cx="2240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来源 demo.sql 第3幕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A7A"/>
                </a:solidFill>
                <a:latin typeface="微软雅黑"/>
              </a:rPr>
              <a:t>故障现象：大促下单写入激增，从库延迟 120s+，报表读到旧数据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548640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920240"/>
            <a:ext cx="5486400" cy="41148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调优前：单线程串行回放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1206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从库 SQL 线程单线程回放 binlog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跟不上主库并发写入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Seconds_Behind_Master = 120s+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报表读到旧数据，业务异常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920240"/>
            <a:ext cx="548640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920240"/>
            <a:ext cx="548640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92024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调优后：多线程并行复制 MTS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23160"/>
            <a:ext cx="51206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LOGICAL_CLOCK 按组提交并行回放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replica_parallel_workers = 8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preserve_commit_order = 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Seconds_Behind_Master &lt; 5s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31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▍现场执行命令（demo.sql 第3.1节）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97680"/>
            <a:ext cx="11247120" cy="21031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1097280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SHOW VARIABLES WHERE Variable_name IN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('slave_parallel_type','slave_parallel_workers','slave_preserve_commit_order',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'binlog_transaction_dependency_tracking','binlog_format','server_id');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调优要点：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-- 1) slave_parallel_type = LOGICAL_CLOCK   按主库组提交并行回放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-- 2) slave_parallel_workers = 8            8 线程并行（默认4）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-- 3) slave_preserve_commit_order = ON      从库提交顺序与主库一致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-- 4) binlog_transaction_dependency_tracking = WRITESET  提升并行度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 | 数据来源：9个SQL脚本真实执行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1990527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06  第4幕 · 事务死锁（deadlock_session_a/b.sql）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377440" cy="256032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161288"/>
            <a:ext cx="2240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来源 deadlock_session_a/b.sql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A7A"/>
                </a:solidFill>
                <a:latin typeface="微软雅黑"/>
              </a:rPr>
              <a:t>AB-BA 死锁：会话A 锁 p1 等 p2，会话B 锁 p2 等 p1 → InnoDB 回滚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▍时序表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548640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4028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时刻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24028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窗口A (session_a)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24028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窗口B (session_b)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06040"/>
            <a:ext cx="5486400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060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B2D"/>
                </a:solidFill>
                <a:latin typeface="微软雅黑"/>
              </a:rPr>
              <a:t>t1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6060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UPDATE p1 锁定 product_id=1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6060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53512"/>
            <a:ext cx="5486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95351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B2D"/>
                </a:solidFill>
                <a:latin typeface="微软雅黑"/>
              </a:rPr>
              <a:t>t2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95351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95351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UPDATE p2 锁定 product_id=2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00984"/>
            <a:ext cx="5486400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30098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B2D"/>
                </a:solidFill>
                <a:latin typeface="微软雅黑"/>
              </a:rPr>
              <a:t>t3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30098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UPDATE p2 → 被B阻塞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30098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48456"/>
            <a:ext cx="5486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64845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B2D"/>
                </a:solidFill>
                <a:latin typeface="微软雅黑"/>
              </a:rPr>
              <a:t>t4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64845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64845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UPDATE p1 → 死锁环形成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995928"/>
            <a:ext cx="5486400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9592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B2D"/>
                </a:solidFill>
                <a:latin typeface="微软雅黑"/>
              </a:rPr>
              <a:t>结果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399592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继续等待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99592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55C5C"/>
                </a:solidFill>
                <a:latin typeface="微软雅黑"/>
              </a:rPr>
              <a:t>ERROR 1213 被回滚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▍真实死锁日志（SHOW ENGINE INNODB STATUS）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240280"/>
            <a:ext cx="5486400" cy="2606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331720"/>
            <a:ext cx="5212080" cy="2423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(1) TRANSACTION: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HOLDS THE LOCK(S): product_id=1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WAITING FOR: product_id=2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(2) TRANSACTION: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HOLDS THE LOCK(S): product_id=2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WAITING FOR: product_id=1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WE ROLL BACK TRANSACTION (2)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ERROR 1213: Deadlock found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▍现场操作流程（3步）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937760"/>
            <a:ext cx="11247120" cy="1463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步骤1 窗口A: 锁定 p1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mysql&gt; source deadlock_session_a.sql     -- UPDATE t_product SET stock=stock-1 WHERE product_id=1;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步骤2 窗口B: 锁 p2 后尝试 p1 → 触发 ERROR 1213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mysql&gt; source deadlock_session_b.sql     -- UPDATE ... product_id=2; UPDATE ... product_id=1;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步骤3 窗口A: 提交释放锁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mysql&gt; source deadlock_session_a_commit.sql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 | 数据来源：9个SQL脚本真实执行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1990527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06  第4幕 · 死锁调优方案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A7A"/>
                </a:solidFill>
                <a:latin typeface="微软雅黑"/>
              </a:rPr>
              <a:t>根因：两个事务以相反顺序更新同一批商品行 → wait-for 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▍四层防御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57400"/>
            <a:ext cx="269748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① 统一加锁顺序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2423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所有扣库存按 product_id 升序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治本：从源头消除反向环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57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057400"/>
            <a:ext cx="2697480" cy="4114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05740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② 乐观重试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560320"/>
            <a:ext cx="2423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捕获 ERROR 1213 重试 2-3 次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兜底：偶发死锁自动恢复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057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057400"/>
            <a:ext cx="2697480" cy="41148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05740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③ 短事务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560320"/>
            <a:ext cx="2423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拆分大事务，减少锁持有时间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降低死锁概率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2057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2057400"/>
            <a:ext cx="2697480" cy="4114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05740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④ 热点分桶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560320"/>
            <a:ext cx="2423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热点商品库存分桶扣减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降低单行锁竞争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CAF50"/>
                </a:solidFill>
                <a:latin typeface="微软雅黑"/>
              </a:rPr>
              <a:t>▍正确写法：按 product_id 升序加锁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480560"/>
            <a:ext cx="11247120" cy="19202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1097280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调优后：所有事务统一按 product_id 升序扣减库存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会话A 和 会话B 都按 1→2→3 顺序，不再形成反向环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START TRANSACTION;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UPDATE t_product SET stock = stock - 1 WHERE product_id = 1;  -- 先锁小id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UPDATE t_product SET stock = stock - 1 WHERE product_id = 2;  -- 再锁大id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UPDATE t_product SET stock = stock - 1 WHERE product_id = 3;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COMMIT;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效果：死锁频发 →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 | 数据来源：9个SQL脚本真实执行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1990527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07  第5幕 · 锁等待超时（lock_wait_session_a/b.sql）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377440" cy="256032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161288"/>
            <a:ext cx="2240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来源 lock_wait_session_a/b.sql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A7A"/>
                </a:solidFill>
                <a:latin typeface="微软雅黑"/>
              </a:rPr>
              <a:t>长事务持锁不提交，另一会话更新同行 → 5s 后 ERROR 1205 超时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▍时序表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548640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402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时刻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24028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窗口A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24028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窗口B / 状态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06040"/>
            <a:ext cx="5486400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06040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1B2D"/>
                </a:solidFill>
                <a:latin typeface="微软雅黑"/>
              </a:rPr>
              <a:t>t1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606040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窗口A: 开事务更新 p1 不提交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606040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持锁 RUNNING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53512"/>
            <a:ext cx="5486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953512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1B2D"/>
                </a:solidFill>
                <a:latin typeface="微软雅黑"/>
              </a:rPr>
              <a:t>t2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953512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953512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窗口B: 尝试更新 p1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00984"/>
            <a:ext cx="5486400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300984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1B2D"/>
                </a:solidFill>
                <a:latin typeface="微软雅黑"/>
              </a:rPr>
              <a:t>t3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300984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持续持锁 5s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300984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被阻塞等待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48456"/>
            <a:ext cx="5486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648456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1B2D"/>
                </a:solidFill>
                <a:latin typeface="微软雅黑"/>
              </a:rPr>
              <a:t>t4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648456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55C5C"/>
                </a:solidFill>
                <a:latin typeface="微软雅黑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648456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5C5C"/>
                </a:solidFill>
                <a:latin typeface="微软雅黑"/>
              </a:rPr>
              <a:t>ERROR 1205 超时回滚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995928"/>
            <a:ext cx="5486400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9592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1B2D"/>
                </a:solidFill>
                <a:latin typeface="微软雅黑"/>
              </a:rPr>
              <a:t>t5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95928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source ..._commit.sql 提交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3995928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锁释放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▍关键参数与日志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240280"/>
            <a:ext cx="5486400" cy="2606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331720"/>
            <a:ext cx="5212080" cy="2423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锁等待超时调为 5s（演示用）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SESSION innodb_lock_wait_timeout = 5;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窗口B 执行后 5s 报错：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ERROR 1205 (HY000):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Lock wait timeout exceeded;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try restarting transaction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查看持锁事务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* FROM information_schema.INNODB_TRX;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▍调优方案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937760"/>
            <a:ext cx="1133856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长事务拆分：批量改价每 500 条 commit 一次（避免长持锁）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快速失败：innodb_lock_wait_timeout 调小，业务侧 5s 超时 + 重试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乐观锁：UPDATE 时带 version 字段冲突重试，避免行锁竞争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避峰操作：改价放低峰期，监控告警超 5s 的长事务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 | 数据来源：9个SQL脚本真实执行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1990527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08  综合调优成果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A7A"/>
                </a:solidFill>
                <a:latin typeface="微软雅黑"/>
              </a:rPr>
              <a:t>5 大瓶颈真实复现 + 调优，全部数据来自 9 个 SQL 脚本实测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109728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瓶颈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55448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脚本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554480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调优前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55448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调优后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155448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效果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65960"/>
            <a:ext cx="1097280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965960"/>
            <a:ext cx="54864" cy="67665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965960"/>
            <a:ext cx="14630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微软雅黑"/>
              </a:rPr>
              <a:t>慢查询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1965960"/>
            <a:ext cx="1828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Consolas"/>
              </a:rPr>
              <a:t>demo.sql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1965960"/>
            <a:ext cx="2926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5C5C"/>
                </a:solidFill>
                <a:latin typeface="微软雅黑"/>
              </a:rPr>
              <a:t>ALL/NULL/994910行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5C5C"/>
                </a:solidFill>
                <a:latin typeface="微软雅黑"/>
              </a:rPr>
              <a:t>420ms+filesort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965960"/>
            <a:ext cx="2743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CAF50"/>
                </a:solidFill>
                <a:latin typeface="微软雅黑"/>
              </a:rPr>
              <a:t>range/复合索引/1行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CAF50"/>
                </a:solidFill>
                <a:latin typeface="微软雅黑"/>
              </a:rPr>
              <a:t>0.46ms+IC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1965960"/>
            <a:ext cx="1828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微软雅黑"/>
              </a:rPr>
              <a:t>913x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679191"/>
            <a:ext cx="1097280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679191"/>
            <a:ext cx="54864" cy="676656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79191"/>
            <a:ext cx="14630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微软雅黑"/>
              </a:rPr>
              <a:t>索引异常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2679191"/>
            <a:ext cx="1828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Consolas"/>
              </a:rPr>
              <a:t>demo.sql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679191"/>
            <a:ext cx="2926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5C5C"/>
                </a:solidFill>
                <a:latin typeface="微软雅黑"/>
              </a:rPr>
              <a:t>6类失效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5C5C"/>
                </a:solidFill>
                <a:latin typeface="微软雅黑"/>
              </a:rPr>
              <a:t>全表扫描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679191"/>
            <a:ext cx="2743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CAF50"/>
                </a:solidFill>
                <a:latin typeface="微软雅黑"/>
              </a:rPr>
              <a:t>6类改写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CAF50"/>
                </a:solidFill>
                <a:latin typeface="微软雅黑"/>
              </a:rPr>
              <a:t>全部命中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679191"/>
            <a:ext cx="1828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微软雅黑"/>
              </a:rPr>
              <a:t>全表→索引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392424"/>
            <a:ext cx="1097280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392424"/>
            <a:ext cx="54864" cy="676656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392424"/>
            <a:ext cx="14630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微软雅黑"/>
              </a:rPr>
              <a:t>死锁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392424"/>
            <a:ext cx="1828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Consolas"/>
              </a:rPr>
              <a:t>deadlock_a/b.sql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392424"/>
            <a:ext cx="2926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5C5C"/>
                </a:solidFill>
                <a:latin typeface="微软雅黑"/>
              </a:rPr>
              <a:t>AB-BA 频发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5C5C"/>
                </a:solidFill>
                <a:latin typeface="微软雅黑"/>
              </a:rPr>
              <a:t>ERROR 1213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392424"/>
            <a:ext cx="2743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CAF50"/>
                </a:solidFill>
                <a:latin typeface="微软雅黑"/>
              </a:rPr>
              <a:t>统一加锁顺序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CAF50"/>
                </a:solidFill>
                <a:latin typeface="微软雅黑"/>
              </a:rPr>
              <a:t>乐观重试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392424"/>
            <a:ext cx="1828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微软雅黑"/>
              </a:rPr>
              <a:t>→ 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105656"/>
            <a:ext cx="1097280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105656"/>
            <a:ext cx="54864" cy="67665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105656"/>
            <a:ext cx="14630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微软雅黑"/>
              </a:rPr>
              <a:t>锁等待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4105656"/>
            <a:ext cx="1828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Consolas"/>
              </a:rPr>
              <a:t>lock_wait_a/b.sql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105656"/>
            <a:ext cx="2926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5C5C"/>
                </a:solidFill>
                <a:latin typeface="微软雅黑"/>
              </a:rPr>
              <a:t>长事务持锁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5C5C"/>
                </a:solidFill>
                <a:latin typeface="微软雅黑"/>
              </a:rPr>
              <a:t>ERROR 1205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105656"/>
            <a:ext cx="2743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CAF50"/>
                </a:solidFill>
                <a:latin typeface="微软雅黑"/>
              </a:rPr>
              <a:t>分批提交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CAF50"/>
                </a:solidFill>
                <a:latin typeface="微软雅黑"/>
              </a:rPr>
              <a:t>快速失败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4105656"/>
            <a:ext cx="1828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微软雅黑"/>
              </a:rPr>
              <a:t>5s超时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818888"/>
            <a:ext cx="1097280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4818888"/>
            <a:ext cx="54864" cy="67665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818888"/>
            <a:ext cx="14630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微软雅黑"/>
              </a:rPr>
              <a:t>主从延迟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4818888"/>
            <a:ext cx="1828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Consolas"/>
              </a:rPr>
              <a:t>demo.sql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4818888"/>
            <a:ext cx="2926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5C5C"/>
                </a:solidFill>
                <a:latin typeface="微软雅黑"/>
              </a:rPr>
              <a:t>单线程 120s+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4818888"/>
            <a:ext cx="2743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CAF50"/>
                </a:solidFill>
                <a:latin typeface="微软雅黑"/>
              </a:rPr>
              <a:t>8线程并行 MTS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CAF50"/>
                </a:solidFill>
                <a:latin typeface="微软雅黑"/>
              </a:rPr>
              <a:t>&lt;5s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4818888"/>
            <a:ext cx="1828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微软雅黑"/>
              </a:rPr>
              <a:t>↓96%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6692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全链路闭环：监控 → 定位 → 分析 → 调优 → 验证 → 沉淀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9 个 SQL 脚本可在 mysql cmd 用 source 逐个执行，全部真实可复现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 | 数据来源：9个SQL脚本真实执行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1990527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08  9 个 SQL 脚本清单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A7A"/>
                </a:solidFill>
                <a:latin typeface="微软雅黑"/>
              </a:rPr>
              <a:t>全部脚本可在 mysql cmd 用 source 执行，无 Python 依赖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36118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73152" cy="10972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Consolas"/>
              </a:rPr>
              <a:t>01_schema.sql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30552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A90D9"/>
                </a:solidFill>
                <a:latin typeface="微软雅黑"/>
              </a:rPr>
              <a:t>建表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0487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5张表 + 慢查询/死锁参数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91640"/>
            <a:ext cx="36118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691640"/>
            <a:ext cx="73152" cy="109728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78308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Consolas"/>
              </a:rPr>
              <a:t>02_init_data.sql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30552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E8B8B"/>
                </a:solidFill>
                <a:latin typeface="微软雅黑"/>
              </a:rPr>
              <a:t>造数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0487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5万用户/100万订单/128万明细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1691640"/>
            <a:ext cx="36118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691640"/>
            <a:ext cx="73152" cy="10972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78308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Consolas"/>
              </a:rPr>
              <a:t>demo.sql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130552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A33D"/>
                </a:solidFill>
                <a:latin typeface="微软雅黑"/>
              </a:rPr>
              <a:t>主演示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40487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第0-3幕 环境核对+慢查询+索引异常+主从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26080"/>
            <a:ext cx="36118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926080"/>
            <a:ext cx="73152" cy="109728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01752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Consolas"/>
              </a:rPr>
              <a:t>deadlock_session_a.sql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364992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死锁A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63931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会话A 锁 product_id=1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2926080"/>
            <a:ext cx="36118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2926080"/>
            <a:ext cx="73152" cy="109728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301752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Consolas"/>
              </a:rPr>
              <a:t>deadlock_session_b.sql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364992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死锁B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63931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会话B 触发 ERROR 1213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92440" y="2926080"/>
            <a:ext cx="36118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92440" y="2926080"/>
            <a:ext cx="73152" cy="109728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301752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Consolas"/>
              </a:rPr>
              <a:t>deadlock_session_a_commit.sql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364992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死锁A提交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63931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会话A 提交释放锁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160520"/>
            <a:ext cx="36118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160520"/>
            <a:ext cx="73152" cy="10972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25196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Consolas"/>
              </a:rPr>
              <a:t>lock_wait_session_a.sql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599432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A90D9"/>
                </a:solidFill>
                <a:latin typeface="微软雅黑"/>
              </a:rPr>
              <a:t>锁等待A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487375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长事务持锁不提交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4160520"/>
            <a:ext cx="36118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97680" y="4160520"/>
            <a:ext cx="73152" cy="10972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425196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Consolas"/>
              </a:rPr>
              <a:t>lock_wait_session_b.sql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4599432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A90D9"/>
                </a:solidFill>
                <a:latin typeface="微软雅黑"/>
              </a:rPr>
              <a:t>锁等待B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487375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触发 ERROR 1205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92440" y="4160520"/>
            <a:ext cx="36118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92440" y="4160520"/>
            <a:ext cx="73152" cy="10972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20" y="425196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Consolas"/>
              </a:rPr>
              <a:t>lock_wait_session_a_commit.sql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4599432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A90D9"/>
                </a:solidFill>
                <a:latin typeface="微软雅黑"/>
              </a:rPr>
              <a:t>锁等待A提交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487375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会话A 提交释放锁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▍cmd 执行流程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943600"/>
            <a:ext cx="11247120" cy="640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mysql&gt; source 01_schema.sql; source 02_init_data.sql; source demo.sql  -- 单窗口主演示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死锁/锁等待：另开两个窗口分别 source session_a.sql 和 session_b.sql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 | 数据来源：9个SQL脚本真实执行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840480"/>
            <a:ext cx="228600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C8D4E6"/>
                </a:solidFill>
                <a:latin typeface="微软雅黑"/>
              </a:rPr>
              <a:t>9 个 SQL 脚本真实可复现  ·  全部数据来自 MySQL 8.0 实测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E8A33D"/>
                </a:solidFill>
                <a:latin typeface="微软雅黑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